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000000"/>
                </a:solidFill>
                <a:latin typeface="Arial"/>
              </a:defRPr>
            </a:pPr>
            <a:r>
              <a:rPr sz="1100" b="0" i="0" u="none" strike="noStrike">
                <a:solidFill>
                  <a:srgbClr val="000000"/>
                </a:solidFill>
                <a:latin typeface="Arial"/>
              </a:rPr>
              <a:t>Vehicle Crime Incidents by Year</a:t>
            </a:r>
          </a:p>
        </c:rich>
      </c:tx>
      <c:layout/>
      <c:overlay val="0"/>
    </c:title>
    <c:autoTitleDeleted val="0"/>
    <c:plotArea>
      <c:layout/>
      <c:barChart>
        <c:barDir val="col"/>
        <c:grouping val="stacked"/>
        <c:varyColors val="0"/>
        <c:ser>
          <c:idx val="0"/>
          <c:order val="0"/>
          <c:tx>
            <c:strRef>
              <c:f>Sheet1!$B$1</c:f>
              <c:strCache>
                <c:ptCount val="1"/>
                <c:pt idx="0">
                  <c:v>Past (2015–2021)</c:v>
                </c:pt>
              </c:strCache>
            </c:strRef>
          </c:tx>
          <c:spPr>
            <a:solidFill>
              <a:srgbClr val="065A82"/>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2015</c:v>
                  </c:pt>
                  <c:pt idx="1">
                    <c:v>2016</c:v>
                  </c:pt>
                  <c:pt idx="2">
                    <c:v>2017</c:v>
                  </c:pt>
                  <c:pt idx="3">
                    <c:v>2018</c:v>
                  </c:pt>
                  <c:pt idx="4">
                    <c:v>2019</c:v>
                  </c:pt>
                  <c:pt idx="5">
                    <c:v>2020</c:v>
                  </c:pt>
                  <c:pt idx="6">
                    <c:v>2021</c:v>
                  </c:pt>
                  <c:pt idx="7">
                    <c:v>2022</c:v>
                  </c:pt>
                  <c:pt idx="8">
                    <c:v>2023</c:v>
                  </c:pt>
                  <c:pt idx="9">
                    <c:v>2024</c:v>
                  </c:pt>
                </c:lvl>
              </c:multiLvlStrCache>
            </c:multiLvlStrRef>
          </c:cat>
          <c:val>
            <c:numRef>
              <c:f>Sheet1!$B$2:$B$11</c:f>
              <c:numCache>
                <c:formatCode>General</c:formatCode>
                <c:ptCount val="10"/>
                <c:pt idx="0">
                  <c:v>4744</c:v>
                </c:pt>
                <c:pt idx="1">
                  <c:v>4906</c:v>
                </c:pt>
                <c:pt idx="2">
                  <c:v>5126</c:v>
                </c:pt>
                <c:pt idx="3">
                  <c:v>4607</c:v>
                </c:pt>
                <c:pt idx="4">
                  <c:v>4236</c:v>
                </c:pt>
                <c:pt idx="5">
                  <c:v>3439</c:v>
                </c:pt>
                <c:pt idx="6">
                  <c:v>3724</c:v>
                </c:pt>
                <c:pt idx="7">
                  <c:v>0</c:v>
                </c:pt>
                <c:pt idx="8">
                  <c:v>0</c:v>
                </c:pt>
                <c:pt idx="9">
                  <c:v>0</c:v>
                </c:pt>
              </c:numCache>
            </c:numRef>
          </c:val>
        </c:ser>
        <c:ser>
          <c:idx val="1"/>
          <c:order val="1"/>
          <c:tx>
            <c:strRef>
              <c:f>Sheet1!$C$1</c:f>
              <c:strCache>
                <c:ptCount val="1"/>
                <c:pt idx="0">
                  <c:v>Future (2022–2024)</c:v>
                </c:pt>
              </c:strCache>
            </c:strRef>
          </c:tx>
          <c:spPr>
            <a:solidFill>
              <a:srgbClr val="C0392B"/>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2015</c:v>
                  </c:pt>
                  <c:pt idx="1">
                    <c:v>2016</c:v>
                  </c:pt>
                  <c:pt idx="2">
                    <c:v>2017</c:v>
                  </c:pt>
                  <c:pt idx="3">
                    <c:v>2018</c:v>
                  </c:pt>
                  <c:pt idx="4">
                    <c:v>2019</c:v>
                  </c:pt>
                  <c:pt idx="5">
                    <c:v>2020</c:v>
                  </c:pt>
                  <c:pt idx="6">
                    <c:v>2021</c:v>
                  </c:pt>
                  <c:pt idx="7">
                    <c:v>2022</c:v>
                  </c:pt>
                  <c:pt idx="8">
                    <c:v>2023</c:v>
                  </c:pt>
                  <c:pt idx="9">
                    <c:v>2024</c:v>
                  </c:pt>
                </c:lvl>
              </c:multiLvlStrCache>
            </c:multiLvlStrRef>
          </c:cat>
          <c:val>
            <c:numRef>
              <c:f>Sheet1!$C$2:$C$11</c:f>
              <c:numCache>
                <c:formatCode>General</c:formatCode>
                <c:ptCount val="10"/>
                <c:pt idx="0">
                  <c:v>0</c:v>
                </c:pt>
                <c:pt idx="1">
                  <c:v>0</c:v>
                </c:pt>
                <c:pt idx="2">
                  <c:v>0</c:v>
                </c:pt>
                <c:pt idx="3">
                  <c:v>0</c:v>
                </c:pt>
                <c:pt idx="4">
                  <c:v>0</c:v>
                </c:pt>
                <c:pt idx="5">
                  <c:v>0</c:v>
                </c:pt>
                <c:pt idx="6">
                  <c:v>0</c:v>
                </c:pt>
                <c:pt idx="7">
                  <c:v>4290</c:v>
                </c:pt>
                <c:pt idx="8">
                  <c:v>11701</c:v>
                </c:pt>
                <c:pt idx="9">
                  <c:v>6491</c:v>
                </c:pt>
              </c:numCache>
            </c:numRef>
          </c:val>
        </c:ser>
        <c:dLbls>
          <c:numFmt formatCode="#,##0" sourceLinked="0"/>
          <c:txPr>
            <a:bodyPr/>
            <a:lstStyle/>
            <a:p>
              <a:pPr>
                <a:defRPr b="0" i="0" strike="noStrike" sz="8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Arial"/>
              </a:defRPr>
            </a:pPr>
            <a:r>
              <a:rPr sz="1100" b="0" i="0" u="none" strike="noStrike">
                <a:solidFill>
                  <a:srgbClr val="000000"/>
                </a:solidFill>
                <a:latin typeface="Arial"/>
              </a:rPr>
              <a:t>Crime Type Split</a:t>
            </a:r>
          </a:p>
        </c:rich>
      </c:tx>
      <c:layout/>
      <c:overlay val="0"/>
    </c:title>
    <c:autoTitleDeleted val="0"/>
    <c:plotArea>
      <c:layout/>
      <c:pieChart>
        <c:varyColors val="1"/>
        <c:ser>
          <c:idx val="0"/>
          <c:order val="0"/>
          <c:tx>
            <c:strRef>
              <c:f>Sheet1!$B$1</c:f>
              <c:strCache>
                <c:ptCount val="1"/>
                <c:pt idx="0">
                  <c:v>Crime Type</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dPt>
          <c:dPt>
            <c:idx val="1"/>
            <c:bubble3D val="0"/>
            <c:spPr>
              <a:solidFill>
                <a:srgbClr val="C0392B"/>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Auto Theft</c:v>
                </c:pt>
                <c:pt idx="1">
                  <c:v>Robbery - Carjacking</c:v>
                </c:pt>
              </c:strCache>
            </c:strRef>
          </c:cat>
          <c:val>
            <c:numRef>
              <c:f>Sheet1!$B$2:$B$3</c:f>
              <c:numCache>
                <c:ptCount val="2"/>
                <c:pt idx="0">
                  <c:v>48130</c:v>
                </c:pt>
                <c:pt idx="1">
                  <c:v>5134</c:v>
                </c:pt>
              </c:numCache>
            </c:numRef>
          </c:val>
        </c:ser>
        <c:firstSliceAng val="0"/>
      </c:pieChart>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Logistic Regression</c:v>
                </c:pt>
              </c:strCache>
            </c:strRef>
          </c:tx>
          <c:spPr>
            <a:solidFill>
              <a:srgbClr val="1C729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Sheet1!$B$2:$B$6</c:f>
              <c:numCache>
                <c:formatCode>General</c:formatCode>
                <c:ptCount val="5"/>
                <c:pt idx="0">
                  <c:v>0.879</c:v>
                </c:pt>
                <c:pt idx="1">
                  <c:v>0.711</c:v>
                </c:pt>
                <c:pt idx="2">
                  <c:v>0.894</c:v>
                </c:pt>
                <c:pt idx="3">
                  <c:v>0.792</c:v>
                </c:pt>
                <c:pt idx="4">
                  <c:v>0.948</c:v>
                </c:pt>
              </c:numCache>
            </c:numRef>
          </c:val>
        </c:ser>
        <c:ser>
          <c:idx val="1"/>
          <c:order val="1"/>
          <c:tx>
            <c:strRef>
              <c:f>Sheet1!$C$1</c:f>
              <c:strCache>
                <c:ptCount val="1"/>
                <c:pt idx="0">
                  <c:v>Decision Tree</c:v>
                </c:pt>
              </c:strCache>
            </c:strRef>
          </c:tx>
          <c:spPr>
            <a:solidFill>
              <a:srgbClr val="065A82"/>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Sheet1!$C$2:$C$6</c:f>
              <c:numCache>
                <c:formatCode>General</c:formatCode>
                <c:ptCount val="5"/>
                <c:pt idx="0">
                  <c:v>0.848</c:v>
                </c:pt>
                <c:pt idx="1">
                  <c:v>0.652</c:v>
                </c:pt>
                <c:pt idx="2">
                  <c:v>0.879</c:v>
                </c:pt>
                <c:pt idx="3">
                  <c:v>0.748</c:v>
                </c:pt>
                <c:pt idx="4">
                  <c:v>0.945</c:v>
                </c:pt>
              </c:numCache>
            </c:numRef>
          </c:val>
        </c:ser>
        <c:ser>
          <c:idx val="2"/>
          <c:order val="2"/>
          <c:tx>
            <c:strRef>
              <c:f>Sheet1!$D$1</c:f>
              <c:strCache>
                <c:ptCount val="1"/>
                <c:pt idx="0">
                  <c:v>Random Forest</c:v>
                </c:pt>
              </c:strCache>
            </c:strRef>
          </c:tx>
          <c:spPr>
            <a:solidFill>
              <a:srgbClr val="C0392B"/>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c:v>
                  </c:pt>
                  <c:pt idx="4">
                    <c:v>ROC-AUC</c:v>
                  </c:pt>
                </c:lvl>
              </c:multiLvlStrCache>
            </c:multiLvlStrRef>
          </c:cat>
          <c:val>
            <c:numRef>
              <c:f>Sheet1!$D$2:$D$6</c:f>
              <c:numCache>
                <c:formatCode>General</c:formatCode>
                <c:ptCount val="5"/>
                <c:pt idx="0">
                  <c:v>0.875</c:v>
                </c:pt>
                <c:pt idx="1">
                  <c:v>0.718</c:v>
                </c:pt>
                <c:pt idx="2">
                  <c:v>0.848</c:v>
                </c:pt>
                <c:pt idx="3">
                  <c:v>0.778</c:v>
                </c:pt>
                <c:pt idx="4">
                  <c:v>0.952</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Text 1"/>
          <p:cNvSpPr/>
          <p:nvPr/>
        </p:nvSpPr>
        <p:spPr>
          <a:xfrm>
            <a:off x="365760" y="320040"/>
            <a:ext cx="8412480" cy="320040"/>
          </a:xfrm>
          <a:prstGeom prst="rect">
            <a:avLst/>
          </a:prstGeom>
          <a:noFill/>
          <a:ln/>
        </p:spPr>
        <p:txBody>
          <a:bodyPr wrap="square" lIns="0" tIns="0" rIns="0" bIns="0" rtlCol="0" anchor="ctr"/>
          <a:lstStyle/>
          <a:p>
            <a:pPr algn="l" indent="0" marL="0">
              <a:buNone/>
            </a:pPr>
            <a:r>
              <a:rPr lang="en-US" sz="1000" b="1" spc="300" kern="0" dirty="0">
                <a:solidFill>
                  <a:srgbClr val="1C7293"/>
                </a:solidFill>
              </a:rPr>
              <a:t>FINAL PROJECT  ·  GIS &amp; MACHINE LEARNING</a:t>
            </a:r>
            <a:endParaRPr lang="en-US" sz="1000" dirty="0"/>
          </a:p>
        </p:txBody>
      </p:sp>
      <p:sp>
        <p:nvSpPr>
          <p:cNvPr id="4" name="Text 2"/>
          <p:cNvSpPr/>
          <p:nvPr/>
        </p:nvSpPr>
        <p:spPr>
          <a:xfrm>
            <a:off x="365760" y="777240"/>
            <a:ext cx="5486400" cy="2377440"/>
          </a:xfrm>
          <a:prstGeom prst="rect">
            <a:avLst/>
          </a:prstGeom>
          <a:noFill/>
          <a:ln/>
        </p:spPr>
        <p:txBody>
          <a:bodyPr wrap="square" lIns="0" tIns="0" rIns="0" bIns="0" rtlCol="0" anchor="t"/>
          <a:lstStyle/>
          <a:p>
            <a:pPr algn="l" indent="0" marL="0">
              <a:lnSpc>
                <a:spcPct val="120000"/>
              </a:lnSpc>
              <a:buNone/>
            </a:pPr>
            <a:r>
              <a:rPr lang="en-US" sz="3000" b="1" dirty="0">
                <a:solidFill>
                  <a:srgbClr val="FFFFFF"/>
                </a:solidFill>
              </a:rPr>
              <a:t>GIS-Based Prediction of</a:t>
            </a:r>
            <a:endParaRPr lang="en-US" sz="3000" dirty="0"/>
          </a:p>
          <a:p>
            <a:pPr algn="l" indent="0" marL="0">
              <a:lnSpc>
                <a:spcPct val="120000"/>
              </a:lnSpc>
              <a:buNone/>
            </a:pPr>
            <a:r>
              <a:rPr lang="en-US" sz="3000" b="1" dirty="0">
                <a:solidFill>
                  <a:srgbClr val="FFFFFF"/>
                </a:solidFill>
              </a:rPr>
              <a:t>Auto Theft &amp; Carjacking</a:t>
            </a:r>
            <a:endParaRPr lang="en-US" sz="3000" dirty="0"/>
          </a:p>
          <a:p>
            <a:pPr algn="l" indent="0" marL="0">
              <a:lnSpc>
                <a:spcPct val="120000"/>
              </a:lnSpc>
              <a:buNone/>
            </a:pPr>
            <a:r>
              <a:rPr lang="en-US" sz="3000" b="1" dirty="0">
                <a:solidFill>
                  <a:srgbClr val="FFFFFF"/>
                </a:solidFill>
              </a:rPr>
              <a:t>Hotspots in Baltimore City</a:t>
            </a:r>
            <a:endParaRPr lang="en-US" sz="3000" dirty="0"/>
          </a:p>
        </p:txBody>
      </p:sp>
      <p:sp>
        <p:nvSpPr>
          <p:cNvPr id="5" name="Text 3"/>
          <p:cNvSpPr/>
          <p:nvPr/>
        </p:nvSpPr>
        <p:spPr>
          <a:xfrm>
            <a:off x="365760" y="3200400"/>
            <a:ext cx="5486400" cy="548640"/>
          </a:xfrm>
          <a:prstGeom prst="rect">
            <a:avLst/>
          </a:prstGeom>
          <a:noFill/>
          <a:ln/>
        </p:spPr>
        <p:txBody>
          <a:bodyPr wrap="square" lIns="0" tIns="0" rIns="0" bIns="0" rtlCol="0" anchor="ctr"/>
          <a:lstStyle/>
          <a:p>
            <a:pPr algn="l" indent="0" marL="0">
              <a:buNone/>
            </a:pPr>
            <a:r>
              <a:rPr lang="en-US" sz="1300" dirty="0">
                <a:solidFill>
                  <a:srgbClr val="1C7293"/>
                </a:solidFill>
              </a:rPr>
              <a:t>Using Machine Learning — Logistic Regression, Decision Tree &amp; Random Forest</a:t>
            </a:r>
            <a:endParaRPr lang="en-US" sz="1300" dirty="0"/>
          </a:p>
        </p:txBody>
      </p:sp>
      <p:sp>
        <p:nvSpPr>
          <p:cNvPr id="6" name="Shape 4"/>
          <p:cNvSpPr/>
          <p:nvPr/>
        </p:nvSpPr>
        <p:spPr>
          <a:xfrm>
            <a:off x="365760" y="3886200"/>
            <a:ext cx="1920240" cy="868680"/>
          </a:xfrm>
          <a:prstGeom prst="rect">
            <a:avLst/>
          </a:prstGeom>
          <a:solidFill>
            <a:srgbClr val="065A82"/>
          </a:solidFill>
          <a:ln w="12700">
            <a:solidFill>
              <a:srgbClr val="065A82"/>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411480" y="3913632"/>
            <a:ext cx="1828800" cy="384048"/>
          </a:xfrm>
          <a:prstGeom prst="rect">
            <a:avLst/>
          </a:prstGeom>
          <a:noFill/>
          <a:ln/>
        </p:spPr>
        <p:txBody>
          <a:bodyPr wrap="square" lIns="0" tIns="0" rIns="0" bIns="0" rtlCol="0" anchor="ctr"/>
          <a:lstStyle/>
          <a:p>
            <a:pPr algn="ctr" indent="0" marL="0">
              <a:buNone/>
            </a:pPr>
            <a:r>
              <a:rPr lang="en-US" sz="2200" b="1" dirty="0">
                <a:solidFill>
                  <a:srgbClr val="FFFFFF"/>
                </a:solidFill>
              </a:rPr>
              <a:t>53,264</a:t>
            </a:r>
            <a:endParaRPr lang="en-US" sz="2200" dirty="0"/>
          </a:p>
        </p:txBody>
      </p:sp>
      <p:sp>
        <p:nvSpPr>
          <p:cNvPr id="8" name="Text 6"/>
          <p:cNvSpPr/>
          <p:nvPr/>
        </p:nvSpPr>
        <p:spPr>
          <a:xfrm>
            <a:off x="411480" y="4315968"/>
            <a:ext cx="1828800" cy="274320"/>
          </a:xfrm>
          <a:prstGeom prst="rect">
            <a:avLst/>
          </a:prstGeom>
          <a:noFill/>
          <a:ln/>
        </p:spPr>
        <p:txBody>
          <a:bodyPr wrap="square" lIns="0" tIns="0" rIns="0" bIns="0" rtlCol="0" anchor="ctr"/>
          <a:lstStyle/>
          <a:p>
            <a:pPr algn="ctr" indent="0" marL="0">
              <a:buNone/>
            </a:pPr>
            <a:r>
              <a:rPr lang="en-US" sz="900" dirty="0">
                <a:solidFill>
                  <a:srgbClr val="E2E8F0"/>
                </a:solidFill>
              </a:rPr>
              <a:t>Crime Records</a:t>
            </a:r>
            <a:endParaRPr lang="en-US" sz="900" dirty="0"/>
          </a:p>
        </p:txBody>
      </p:sp>
      <p:sp>
        <p:nvSpPr>
          <p:cNvPr id="9" name="Shape 7"/>
          <p:cNvSpPr/>
          <p:nvPr/>
        </p:nvSpPr>
        <p:spPr>
          <a:xfrm>
            <a:off x="2514600" y="3886200"/>
            <a:ext cx="1920240" cy="868680"/>
          </a:xfrm>
          <a:prstGeom prst="rect">
            <a:avLst/>
          </a:prstGeom>
          <a:solidFill>
            <a:srgbClr val="065A82"/>
          </a:solidFill>
          <a:ln w="12700">
            <a:solidFill>
              <a:srgbClr val="065A82"/>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2560320" y="3913632"/>
            <a:ext cx="1828800" cy="384048"/>
          </a:xfrm>
          <a:prstGeom prst="rect">
            <a:avLst/>
          </a:prstGeom>
          <a:noFill/>
          <a:ln/>
        </p:spPr>
        <p:txBody>
          <a:bodyPr wrap="square" lIns="0" tIns="0" rIns="0" bIns="0" rtlCol="0" anchor="ctr"/>
          <a:lstStyle/>
          <a:p>
            <a:pPr algn="ctr" indent="0" marL="0">
              <a:buNone/>
            </a:pPr>
            <a:r>
              <a:rPr lang="en-US" sz="2200" b="1" dirty="0">
                <a:solidFill>
                  <a:srgbClr val="FFFFFF"/>
                </a:solidFill>
              </a:rPr>
              <a:t>1,022</a:t>
            </a:r>
            <a:endParaRPr lang="en-US" sz="2200" dirty="0"/>
          </a:p>
        </p:txBody>
      </p:sp>
      <p:sp>
        <p:nvSpPr>
          <p:cNvPr id="11" name="Text 9"/>
          <p:cNvSpPr/>
          <p:nvPr/>
        </p:nvSpPr>
        <p:spPr>
          <a:xfrm>
            <a:off x="2560320" y="4315968"/>
            <a:ext cx="1828800" cy="274320"/>
          </a:xfrm>
          <a:prstGeom prst="rect">
            <a:avLst/>
          </a:prstGeom>
          <a:noFill/>
          <a:ln/>
        </p:spPr>
        <p:txBody>
          <a:bodyPr wrap="square" lIns="0" tIns="0" rIns="0" bIns="0" rtlCol="0" anchor="ctr"/>
          <a:lstStyle/>
          <a:p>
            <a:pPr algn="ctr" indent="0" marL="0">
              <a:buNone/>
            </a:pPr>
            <a:r>
              <a:rPr lang="en-US" sz="900" dirty="0">
                <a:solidFill>
                  <a:srgbClr val="E2E8F0"/>
                </a:solidFill>
              </a:rPr>
              <a:t>Grid Cells</a:t>
            </a:r>
            <a:endParaRPr lang="en-US" sz="900" dirty="0"/>
          </a:p>
        </p:txBody>
      </p:sp>
      <p:sp>
        <p:nvSpPr>
          <p:cNvPr id="12" name="Shape 10"/>
          <p:cNvSpPr/>
          <p:nvPr/>
        </p:nvSpPr>
        <p:spPr>
          <a:xfrm>
            <a:off x="4663440" y="3886200"/>
            <a:ext cx="1920240" cy="868680"/>
          </a:xfrm>
          <a:prstGeom prst="rect">
            <a:avLst/>
          </a:prstGeom>
          <a:solidFill>
            <a:srgbClr val="065A82"/>
          </a:solidFill>
          <a:ln w="12700">
            <a:solidFill>
              <a:srgbClr val="065A82"/>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4709160" y="3913632"/>
            <a:ext cx="1828800" cy="384048"/>
          </a:xfrm>
          <a:prstGeom prst="rect">
            <a:avLst/>
          </a:prstGeom>
          <a:noFill/>
          <a:ln/>
        </p:spPr>
        <p:txBody>
          <a:bodyPr wrap="square" lIns="0" tIns="0" rIns="0" bIns="0" rtlCol="0" anchor="ctr"/>
          <a:lstStyle/>
          <a:p>
            <a:pPr algn="ctr" indent="0" marL="0">
              <a:buNone/>
            </a:pPr>
            <a:r>
              <a:rPr lang="en-US" sz="2200" b="1" dirty="0">
                <a:solidFill>
                  <a:srgbClr val="FFFFFF"/>
                </a:solidFill>
              </a:rPr>
              <a:t>12</a:t>
            </a:r>
            <a:endParaRPr lang="en-US" sz="2200" dirty="0"/>
          </a:p>
        </p:txBody>
      </p:sp>
      <p:sp>
        <p:nvSpPr>
          <p:cNvPr id="14" name="Text 12"/>
          <p:cNvSpPr/>
          <p:nvPr/>
        </p:nvSpPr>
        <p:spPr>
          <a:xfrm>
            <a:off x="4709160" y="4315968"/>
            <a:ext cx="1828800" cy="274320"/>
          </a:xfrm>
          <a:prstGeom prst="rect">
            <a:avLst/>
          </a:prstGeom>
          <a:noFill/>
          <a:ln/>
        </p:spPr>
        <p:txBody>
          <a:bodyPr wrap="square" lIns="0" tIns="0" rIns="0" bIns="0" rtlCol="0" anchor="ctr"/>
          <a:lstStyle/>
          <a:p>
            <a:pPr algn="ctr" indent="0" marL="0">
              <a:buNone/>
            </a:pPr>
            <a:r>
              <a:rPr lang="en-US" sz="900" dirty="0">
                <a:solidFill>
                  <a:srgbClr val="E2E8F0"/>
                </a:solidFill>
              </a:rPr>
              <a:t>Features</a:t>
            </a:r>
            <a:endParaRPr lang="en-US" sz="900" dirty="0"/>
          </a:p>
        </p:txBody>
      </p:sp>
      <p:sp>
        <p:nvSpPr>
          <p:cNvPr id="15" name="Shape 13"/>
          <p:cNvSpPr/>
          <p:nvPr/>
        </p:nvSpPr>
        <p:spPr>
          <a:xfrm>
            <a:off x="6812280" y="3886200"/>
            <a:ext cx="1920240" cy="868680"/>
          </a:xfrm>
          <a:prstGeom prst="rect">
            <a:avLst/>
          </a:prstGeom>
          <a:solidFill>
            <a:srgbClr val="065A82"/>
          </a:solidFill>
          <a:ln w="12700">
            <a:solidFill>
              <a:srgbClr val="065A82"/>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6858000" y="3913632"/>
            <a:ext cx="1828800" cy="384048"/>
          </a:xfrm>
          <a:prstGeom prst="rect">
            <a:avLst/>
          </a:prstGeom>
          <a:noFill/>
          <a:ln/>
        </p:spPr>
        <p:txBody>
          <a:bodyPr wrap="square" lIns="0" tIns="0" rIns="0" bIns="0" rtlCol="0" anchor="ctr"/>
          <a:lstStyle/>
          <a:p>
            <a:pPr algn="ctr" indent="0" marL="0">
              <a:buNone/>
            </a:pPr>
            <a:r>
              <a:rPr lang="en-US" sz="2200" b="1" dirty="0">
                <a:solidFill>
                  <a:srgbClr val="FFFFFF"/>
                </a:solidFill>
              </a:rPr>
              <a:t>95.2%</a:t>
            </a:r>
            <a:endParaRPr lang="en-US" sz="2200" dirty="0"/>
          </a:p>
        </p:txBody>
      </p:sp>
      <p:sp>
        <p:nvSpPr>
          <p:cNvPr id="17" name="Text 15"/>
          <p:cNvSpPr/>
          <p:nvPr/>
        </p:nvSpPr>
        <p:spPr>
          <a:xfrm>
            <a:off x="6858000" y="4315968"/>
            <a:ext cx="1828800" cy="274320"/>
          </a:xfrm>
          <a:prstGeom prst="rect">
            <a:avLst/>
          </a:prstGeom>
          <a:noFill/>
          <a:ln/>
        </p:spPr>
        <p:txBody>
          <a:bodyPr wrap="square" lIns="0" tIns="0" rIns="0" bIns="0" rtlCol="0" anchor="ctr"/>
          <a:lstStyle/>
          <a:p>
            <a:pPr algn="ctr" indent="0" marL="0">
              <a:buNone/>
            </a:pPr>
            <a:r>
              <a:rPr lang="en-US" sz="900" dirty="0">
                <a:solidFill>
                  <a:srgbClr val="E2E8F0"/>
                </a:solidFill>
              </a:rPr>
              <a:t>ROC-AUC</a:t>
            </a:r>
            <a:endParaRPr lang="en-US" sz="900" dirty="0"/>
          </a:p>
        </p:txBody>
      </p:sp>
      <p:pic>
        <p:nvPicPr>
          <p:cNvPr id="18" name="Image 0" descr="/mnt/user-data/uploads/23_probability_map.png">    </p:cNvPr>
          <p:cNvPicPr>
            <a:picLocks noChangeAspect="1"/>
          </p:cNvPicPr>
          <p:nvPr/>
        </p:nvPicPr>
        <p:blipFill>
          <a:blip r:embed="rId1"/>
          <a:stretch>
            <a:fillRect/>
          </a:stretch>
        </p:blipFill>
        <p:spPr>
          <a:xfrm>
            <a:off x="6126480" y="457200"/>
            <a:ext cx="2743200" cy="4206240"/>
          </a:xfrm>
          <a:prstGeom prst="rect">
            <a:avLst/>
          </a:prstGeom>
        </p:spPr>
      </p:pic>
      <p:sp>
        <p:nvSpPr>
          <p:cNvPr id="19" name="Text 16"/>
          <p:cNvSpPr/>
          <p:nvPr/>
        </p:nvSpPr>
        <p:spPr>
          <a:xfrm>
            <a:off x="365760" y="4846320"/>
            <a:ext cx="8412480" cy="228600"/>
          </a:xfrm>
          <a:prstGeom prst="rect">
            <a:avLst/>
          </a:prstGeom>
          <a:noFill/>
          <a:ln/>
        </p:spPr>
        <p:txBody>
          <a:bodyPr wrap="square" lIns="0" tIns="0" rIns="0" bIns="0" rtlCol="0" anchor="ctr"/>
          <a:lstStyle/>
          <a:p>
            <a:pPr algn="l" indent="0" marL="0">
              <a:buNone/>
            </a:pPr>
            <a:r>
              <a:rPr lang="en-US" sz="800" dirty="0">
                <a:solidFill>
                  <a:srgbClr val="64748B"/>
                </a:solidFill>
              </a:rPr>
              <a:t>Data: Open Baltimore (ArcGIS API) · OpenStreetMap · US Census ACS 2020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D1F2D"/>
                </a:solidFill>
              </a:rPr>
              <a:t>The Problem</a:t>
            </a:r>
            <a:endParaRPr lang="en-US" sz="2800" dirty="0"/>
          </a:p>
        </p:txBody>
      </p:sp>
      <p:sp>
        <p:nvSpPr>
          <p:cNvPr id="3" name="Shape 1"/>
          <p:cNvSpPr/>
          <p:nvPr/>
        </p:nvSpPr>
        <p:spPr>
          <a:xfrm>
            <a:off x="457200" y="841248"/>
            <a:ext cx="8229600" cy="36576"/>
          </a:xfrm>
          <a:prstGeom prst="rect">
            <a:avLst/>
          </a:prstGeom>
          <a:solidFill>
            <a:srgbClr val="065A82"/>
          </a:solidFill>
          <a:ln w="12700">
            <a:solidFill>
              <a:srgbClr val="065A82"/>
            </a:solidFill>
            <a:prstDash val="solid"/>
          </a:ln>
        </p:spPr>
      </p:sp>
      <p:sp>
        <p:nvSpPr>
          <p:cNvPr id="4" name="Shape 2"/>
          <p:cNvSpPr/>
          <p:nvPr/>
        </p:nvSpPr>
        <p:spPr>
          <a:xfrm>
            <a:off x="457200" y="1051560"/>
            <a:ext cx="3977640" cy="1600200"/>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594360" y="1161288"/>
            <a:ext cx="3657600" cy="365760"/>
          </a:xfrm>
          <a:prstGeom prst="rect">
            <a:avLst/>
          </a:prstGeom>
          <a:noFill/>
          <a:ln/>
        </p:spPr>
        <p:txBody>
          <a:bodyPr wrap="square" lIns="0" tIns="0" rIns="0" bIns="0" rtlCol="0" anchor="ctr"/>
          <a:lstStyle/>
          <a:p>
            <a:pPr indent="0" marL="0">
              <a:buNone/>
            </a:pPr>
            <a:r>
              <a:rPr lang="en-US" sz="1300" b="1" dirty="0">
                <a:solidFill>
                  <a:srgbClr val="0D1F2D"/>
                </a:solidFill>
              </a:rPr>
              <a:t>🚗  High Vehicle Crime</a:t>
            </a:r>
            <a:endParaRPr lang="en-US" sz="1300" dirty="0"/>
          </a:p>
        </p:txBody>
      </p:sp>
      <p:sp>
        <p:nvSpPr>
          <p:cNvPr id="6" name="Text 4"/>
          <p:cNvSpPr/>
          <p:nvPr/>
        </p:nvSpPr>
        <p:spPr>
          <a:xfrm>
            <a:off x="594360" y="1554480"/>
            <a:ext cx="3657600" cy="1005840"/>
          </a:xfrm>
          <a:prstGeom prst="rect">
            <a:avLst/>
          </a:prstGeom>
          <a:noFill/>
          <a:ln/>
        </p:spPr>
        <p:txBody>
          <a:bodyPr wrap="square" lIns="0" tIns="0" rIns="0" bIns="0" rtlCol="0" anchor="t"/>
          <a:lstStyle/>
          <a:p>
            <a:pPr algn="l" indent="0" marL="0">
              <a:buNone/>
            </a:pPr>
            <a:r>
              <a:rPr lang="en-US" sz="1100" dirty="0">
                <a:solidFill>
                  <a:srgbClr val="2D3748"/>
                </a:solidFill>
              </a:rPr>
              <a:t>Baltimore consistently ranks among the highest cities in the US for auto theft and carjacking incidents.</a:t>
            </a:r>
            <a:endParaRPr lang="en-US" sz="1100" dirty="0"/>
          </a:p>
        </p:txBody>
      </p:sp>
      <p:sp>
        <p:nvSpPr>
          <p:cNvPr id="7" name="Shape 5"/>
          <p:cNvSpPr/>
          <p:nvPr/>
        </p:nvSpPr>
        <p:spPr>
          <a:xfrm>
            <a:off x="4754880" y="1051560"/>
            <a:ext cx="3977640" cy="1600200"/>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4892040" y="1161288"/>
            <a:ext cx="3657600" cy="365760"/>
          </a:xfrm>
          <a:prstGeom prst="rect">
            <a:avLst/>
          </a:prstGeom>
          <a:noFill/>
          <a:ln/>
        </p:spPr>
        <p:txBody>
          <a:bodyPr wrap="square" lIns="0" tIns="0" rIns="0" bIns="0" rtlCol="0" anchor="ctr"/>
          <a:lstStyle/>
          <a:p>
            <a:pPr indent="0" marL="0">
              <a:buNone/>
            </a:pPr>
            <a:r>
              <a:rPr lang="en-US" sz="1300" b="1" dirty="0">
                <a:solidFill>
                  <a:srgbClr val="0D1F2D"/>
                </a:solidFill>
              </a:rPr>
              <a:t>📍  Crime Clusters Spatially</a:t>
            </a:r>
            <a:endParaRPr lang="en-US" sz="1300" dirty="0"/>
          </a:p>
        </p:txBody>
      </p:sp>
      <p:sp>
        <p:nvSpPr>
          <p:cNvPr id="9" name="Text 7"/>
          <p:cNvSpPr/>
          <p:nvPr/>
        </p:nvSpPr>
        <p:spPr>
          <a:xfrm>
            <a:off x="4892040" y="1554480"/>
            <a:ext cx="3657600" cy="1005840"/>
          </a:xfrm>
          <a:prstGeom prst="rect">
            <a:avLst/>
          </a:prstGeom>
          <a:noFill/>
          <a:ln/>
        </p:spPr>
        <p:txBody>
          <a:bodyPr wrap="square" lIns="0" tIns="0" rIns="0" bIns="0" rtlCol="0" anchor="t"/>
          <a:lstStyle/>
          <a:p>
            <a:pPr algn="l" indent="0" marL="0">
              <a:buNone/>
            </a:pPr>
            <a:r>
              <a:rPr lang="en-US" sz="1100" dirty="0">
                <a:solidFill>
                  <a:srgbClr val="2D3748"/>
                </a:solidFill>
              </a:rPr>
              <a:t>Vehicle crimes do not occur randomly. They concentrate in specific corridors and repeat over time.</a:t>
            </a:r>
            <a:endParaRPr lang="en-US" sz="1100" dirty="0"/>
          </a:p>
        </p:txBody>
      </p:sp>
      <p:sp>
        <p:nvSpPr>
          <p:cNvPr id="10" name="Shape 8"/>
          <p:cNvSpPr/>
          <p:nvPr/>
        </p:nvSpPr>
        <p:spPr>
          <a:xfrm>
            <a:off x="457200" y="2880360"/>
            <a:ext cx="3977640" cy="1600200"/>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594360" y="2990088"/>
            <a:ext cx="3657600" cy="365760"/>
          </a:xfrm>
          <a:prstGeom prst="rect">
            <a:avLst/>
          </a:prstGeom>
          <a:noFill/>
          <a:ln/>
        </p:spPr>
        <p:txBody>
          <a:bodyPr wrap="square" lIns="0" tIns="0" rIns="0" bIns="0" rtlCol="0" anchor="ctr"/>
          <a:lstStyle/>
          <a:p>
            <a:pPr indent="0" marL="0">
              <a:buNone/>
            </a:pPr>
            <a:r>
              <a:rPr lang="en-US" sz="1300" b="1" dirty="0">
                <a:solidFill>
                  <a:srgbClr val="0D1F2D"/>
                </a:solidFill>
              </a:rPr>
              <a:t>🔮  Need Forward-Looking Tools</a:t>
            </a:r>
            <a:endParaRPr lang="en-US" sz="1300" dirty="0"/>
          </a:p>
        </p:txBody>
      </p:sp>
      <p:sp>
        <p:nvSpPr>
          <p:cNvPr id="12" name="Text 10"/>
          <p:cNvSpPr/>
          <p:nvPr/>
        </p:nvSpPr>
        <p:spPr>
          <a:xfrm>
            <a:off x="594360" y="3383280"/>
            <a:ext cx="3657600" cy="1005840"/>
          </a:xfrm>
          <a:prstGeom prst="rect">
            <a:avLst/>
          </a:prstGeom>
          <a:noFill/>
          <a:ln/>
        </p:spPr>
        <p:txBody>
          <a:bodyPr wrap="square" lIns="0" tIns="0" rIns="0" bIns="0" rtlCol="0" anchor="t"/>
          <a:lstStyle/>
          <a:p>
            <a:pPr algn="l" indent="0" marL="0">
              <a:buNone/>
            </a:pPr>
            <a:r>
              <a:rPr lang="en-US" sz="1100" dirty="0">
                <a:solidFill>
                  <a:srgbClr val="2D3748"/>
                </a:solidFill>
              </a:rPr>
              <a:t>Traditional crime maps only show where crime happened. Police and planners need to know where it is likely to happen next.</a:t>
            </a:r>
            <a:endParaRPr lang="en-US" sz="1100" dirty="0"/>
          </a:p>
        </p:txBody>
      </p:sp>
      <p:sp>
        <p:nvSpPr>
          <p:cNvPr id="13" name="Shape 11"/>
          <p:cNvSpPr/>
          <p:nvPr/>
        </p:nvSpPr>
        <p:spPr>
          <a:xfrm>
            <a:off x="4754880" y="2880360"/>
            <a:ext cx="3977640" cy="1600200"/>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4892040" y="2990088"/>
            <a:ext cx="3657600" cy="365760"/>
          </a:xfrm>
          <a:prstGeom prst="rect">
            <a:avLst/>
          </a:prstGeom>
          <a:noFill/>
          <a:ln/>
        </p:spPr>
        <p:txBody>
          <a:bodyPr wrap="square" lIns="0" tIns="0" rIns="0" bIns="0" rtlCol="0" anchor="ctr"/>
          <a:lstStyle/>
          <a:p>
            <a:pPr indent="0" marL="0">
              <a:buNone/>
            </a:pPr>
            <a:r>
              <a:rPr lang="en-US" sz="1300" b="1" dirty="0">
                <a:solidFill>
                  <a:srgbClr val="0D1F2D"/>
                </a:solidFill>
              </a:rPr>
              <a:t>🗺️  Area-Level Risk Mapping</a:t>
            </a:r>
            <a:endParaRPr lang="en-US" sz="1300" dirty="0"/>
          </a:p>
        </p:txBody>
      </p:sp>
      <p:sp>
        <p:nvSpPr>
          <p:cNvPr id="15" name="Text 13"/>
          <p:cNvSpPr/>
          <p:nvPr/>
        </p:nvSpPr>
        <p:spPr>
          <a:xfrm>
            <a:off x="4892040" y="3383280"/>
            <a:ext cx="3657600" cy="1005840"/>
          </a:xfrm>
          <a:prstGeom prst="rect">
            <a:avLst/>
          </a:prstGeom>
          <a:noFill/>
          <a:ln/>
        </p:spPr>
        <p:txBody>
          <a:bodyPr wrap="square" lIns="0" tIns="0" rIns="0" bIns="0" rtlCol="0" anchor="t"/>
          <a:lstStyle/>
          <a:p>
            <a:pPr algn="l" indent="0" marL="0">
              <a:buNone/>
            </a:pPr>
            <a:r>
              <a:rPr lang="en-US" sz="1100" dirty="0">
                <a:solidFill>
                  <a:srgbClr val="2D3748"/>
                </a:solidFill>
              </a:rPr>
              <a:t>This project builds a spatial risk model — similar to flood susceptibility maps — to identify high-risk grid cells before incidents spike.</a:t>
            </a:r>
            <a:endParaRPr lang="en-US" sz="1100" dirty="0"/>
          </a:p>
        </p:txBody>
      </p:sp>
      <p:sp>
        <p:nvSpPr>
          <p:cNvPr id="16" name="Text 14"/>
          <p:cNvSpPr/>
          <p:nvPr/>
        </p:nvSpPr>
        <p:spPr>
          <a:xfrm>
            <a:off x="457200" y="4846320"/>
            <a:ext cx="8229600" cy="201168"/>
          </a:xfrm>
          <a:prstGeom prst="rect">
            <a:avLst/>
          </a:prstGeom>
          <a:noFill/>
          <a:ln/>
        </p:spPr>
        <p:txBody>
          <a:bodyPr wrap="square" lIns="0" tIns="0" rIns="0" bIns="0" rtlCol="0" anchor="ctr"/>
          <a:lstStyle/>
          <a:p>
            <a:pPr indent="0" marL="0">
              <a:buNone/>
            </a:pPr>
            <a:r>
              <a:rPr lang="en-US" sz="800" dirty="0">
                <a:solidFill>
                  <a:srgbClr val="64748B"/>
                </a:solidFill>
              </a:rPr>
              <a:t>Source: Baltimore Police Department (BPD) Part 1 Crime Data via Open Baltimore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D1F2D"/>
                </a:solidFill>
              </a:rPr>
              <a:t>Study Area &amp; Data Sources</a:t>
            </a:r>
            <a:endParaRPr lang="en-US" sz="2800" dirty="0"/>
          </a:p>
        </p:txBody>
      </p:sp>
      <p:sp>
        <p:nvSpPr>
          <p:cNvPr id="3" name="Shape 1"/>
          <p:cNvSpPr/>
          <p:nvPr/>
        </p:nvSpPr>
        <p:spPr>
          <a:xfrm>
            <a:off x="457200" y="841248"/>
            <a:ext cx="8229600" cy="36576"/>
          </a:xfrm>
          <a:prstGeom prst="rect">
            <a:avLst/>
          </a:prstGeom>
          <a:solidFill>
            <a:srgbClr val="065A82"/>
          </a:solidFill>
          <a:ln w="12700">
            <a:solidFill>
              <a:srgbClr val="065A82"/>
            </a:solidFill>
            <a:prstDash val="solid"/>
          </a:ln>
        </p:spPr>
      </p:sp>
      <p:pic>
        <p:nvPicPr>
          <p:cNvPr id="4" name="Image 0" descr="/mnt/user-data/uploads/01_grid.png">    </p:cNvPr>
          <p:cNvPicPr>
            <a:picLocks noChangeAspect="1"/>
          </p:cNvPicPr>
          <p:nvPr/>
        </p:nvPicPr>
        <p:blipFill>
          <a:blip r:embed="rId1"/>
          <a:stretch>
            <a:fillRect/>
          </a:stretch>
        </p:blipFill>
        <p:spPr>
          <a:xfrm>
            <a:off x="457200" y="1005840"/>
            <a:ext cx="3657600" cy="3840480"/>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389120" y="1005840"/>
          <a:ext cx="4480560" cy="2377440"/>
        </p:xfrm>
        <a:graphic>
          <a:graphicData uri="http://schemas.openxmlformats.org/drawingml/2006/table">
            <a:tbl>
              <a:tblPr/>
              <a:tblGrid>
                <a:gridCol w="2011680"/>
                <a:gridCol w="2468880"/>
              </a:tblGrid>
              <a:tr h="393192">
                <a:tc>
                  <a:txBody>
                    <a:bodyPr/>
                    <a:lstStyle/>
                    <a:p>
                      <a:pPr indent="0" marL="0">
                        <a:buNone/>
                      </a:pPr>
                      <a:r>
                        <a:rPr lang="en-US" sz="1000" b="1" dirty="0">
                          <a:solidFill>
                            <a:srgbClr val="FFFFFF"/>
                          </a:solidFill>
                        </a:rPr>
                        <a:t>Data Source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000" b="1" dirty="0">
                          <a:solidFill>
                            <a:srgbClr val="FFFFFF"/>
                          </a:solidFill>
                        </a:rPr>
                        <a:t>What It Provides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r>
              <a:tr h="393192">
                <a:tc>
                  <a:txBody>
                    <a:bodyPr/>
                    <a:lstStyle/>
                    <a:p>
                      <a:pPr indent="0" marL="0">
                        <a:buNone/>
                      </a:pPr>
                      <a:r>
                        <a:rPr lang="en-US" sz="1000" dirty="0">
                          <a:solidFill>
                            <a:srgbClr val="000000"/>
                          </a:solidFill>
                        </a:rPr>
                        <a:t>Open Baltimore (ArcGIS API)</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53,264 vehicle crime incidents 2015–2024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000" dirty="0">
                          <a:solidFill>
                            <a:srgbClr val="000000"/>
                          </a:solidFill>
                        </a:rPr>
                        <a:t>OpenStreetMap (osmnx)</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Road network, intersections, POIs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000" dirty="0">
                          <a:solidFill>
                            <a:srgbClr val="000000"/>
                          </a:solidFill>
                        </a:rPr>
                        <a:t>US Census ACS 2020</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Population density by block group</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000" dirty="0">
                          <a:solidFill>
                            <a:srgbClr val="000000"/>
                          </a:solidFill>
                        </a:rPr>
                        <a:t>OpenStreetMap POIs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Transit stops, parking, gas stations, shops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000" dirty="0">
                          <a:solidFill>
                            <a:srgbClr val="000000"/>
                          </a:solidFill>
                        </a:rPr>
                        <a:t>Baltimore DHCD (ArcGIS API)</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rPr>
                        <a:t>Vacant property locations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6" name="Shape 2"/>
          <p:cNvSpPr/>
          <p:nvPr/>
        </p:nvSpPr>
        <p:spPr>
          <a:xfrm>
            <a:off x="4389120" y="3566160"/>
            <a:ext cx="4480560" cy="1234440"/>
          </a:xfrm>
          <a:prstGeom prst="rect">
            <a:avLst/>
          </a:prstGeom>
          <a:solidFill>
            <a:srgbClr val="0D1F2D"/>
          </a:solidFill>
          <a:ln w="12700">
            <a:solidFill>
              <a:srgbClr val="0D1F2D"/>
            </a:solidFill>
            <a:prstDash val="solid"/>
          </a:ln>
          <a:effectLst>
            <a:outerShdw sx="100000" sy="100000" kx="0" ky="0" algn="bl" rotWithShape="0" blurRad="101600" dist="38100" dir="8100000">
              <a:srgbClr val="000000">
                <a:alpha val="12000"/>
              </a:srgbClr>
            </a:outerShdw>
          </a:effectLst>
        </p:spPr>
      </p:sp>
      <p:sp>
        <p:nvSpPr>
          <p:cNvPr id="7" name="Text 3"/>
          <p:cNvSpPr/>
          <p:nvPr/>
        </p:nvSpPr>
        <p:spPr>
          <a:xfrm>
            <a:off x="4526280" y="3639312"/>
            <a:ext cx="4206240" cy="274320"/>
          </a:xfrm>
          <a:prstGeom prst="rect">
            <a:avLst/>
          </a:prstGeom>
          <a:noFill/>
          <a:ln/>
        </p:spPr>
        <p:txBody>
          <a:bodyPr wrap="square" lIns="0" tIns="0" rIns="0" bIns="0" rtlCol="0" anchor="ctr"/>
          <a:lstStyle/>
          <a:p>
            <a:pPr indent="0" marL="0">
              <a:buNone/>
            </a:pPr>
            <a:r>
              <a:rPr lang="en-US" sz="1100" b="1" dirty="0">
                <a:solidFill>
                  <a:srgbClr val="1C7293"/>
                </a:solidFill>
              </a:rPr>
              <a:t>Spatial Unit of Analysis</a:t>
            </a:r>
            <a:endParaRPr lang="en-US" sz="1100" dirty="0"/>
          </a:p>
        </p:txBody>
      </p:sp>
      <p:sp>
        <p:nvSpPr>
          <p:cNvPr id="8" name="Text 4"/>
          <p:cNvSpPr/>
          <p:nvPr/>
        </p:nvSpPr>
        <p:spPr>
          <a:xfrm>
            <a:off x="4526280" y="3931920"/>
            <a:ext cx="4206240" cy="731520"/>
          </a:xfrm>
          <a:prstGeom prst="rect">
            <a:avLst/>
          </a:prstGeom>
          <a:noFill/>
          <a:ln/>
        </p:spPr>
        <p:txBody>
          <a:bodyPr wrap="square" lIns="0" tIns="0" rIns="0" bIns="0" rtlCol="0" anchor="ctr"/>
          <a:lstStyle/>
          <a:p>
            <a:pPr indent="0" marL="0">
              <a:buNone/>
            </a:pPr>
            <a:r>
              <a:rPr lang="en-US" sz="1000" dirty="0">
                <a:solidFill>
                  <a:srgbClr val="FFFFFF"/>
                </a:solidFill>
              </a:rPr>
              <a:t>500 m × 500 m grid cells clipped to Baltimore City boundary</a:t>
            </a:r>
            <a:endParaRPr lang="en-US" sz="1000" dirty="0"/>
          </a:p>
          <a:p>
            <a:pPr indent="0" marL="0">
              <a:buNone/>
            </a:pPr>
            <a:r>
              <a:rPr lang="en-US" sz="1000" dirty="0">
                <a:solidFill>
                  <a:srgbClr val="FFFFFF"/>
                </a:solidFill>
              </a:rPr>
              <a:t>→ 1,022 grid cells  ·  Each cell = one row in the ML dataset</a:t>
            </a:r>
            <a:endParaRPr lang="en-US" sz="1000" dirty="0"/>
          </a:p>
        </p:txBody>
      </p:sp>
      <p:sp>
        <p:nvSpPr>
          <p:cNvPr id="9" name="Text 5"/>
          <p:cNvSpPr/>
          <p:nvPr/>
        </p:nvSpPr>
        <p:spPr>
          <a:xfrm>
            <a:off x="457200" y="4846320"/>
            <a:ext cx="8229600" cy="201168"/>
          </a:xfrm>
          <a:prstGeom prst="rect">
            <a:avLst/>
          </a:prstGeom>
          <a:noFill/>
          <a:ln/>
        </p:spPr>
        <p:txBody>
          <a:bodyPr wrap="square" lIns="0" tIns="0" rIns="0" bIns="0" rtlCol="0" anchor="ctr"/>
          <a:lstStyle/>
          <a:p>
            <a:pPr indent="0" marL="0">
              <a:buNone/>
            </a:pPr>
            <a:r>
              <a:rPr lang="en-US" sz="800" dirty="0">
                <a:solidFill>
                  <a:srgbClr val="64748B"/>
                </a:solidFill>
              </a:rPr>
              <a:t>Sources: Open Baltimore · OpenStreetMap · US Census Bureau · Baltimore DHCD</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D1F2D"/>
                </a:solidFill>
              </a:rPr>
              <a:t>Crime Data Overview</a:t>
            </a:r>
            <a:endParaRPr lang="en-US" sz="2800" dirty="0"/>
          </a:p>
        </p:txBody>
      </p:sp>
      <p:sp>
        <p:nvSpPr>
          <p:cNvPr id="3" name="Shape 1"/>
          <p:cNvSpPr/>
          <p:nvPr/>
        </p:nvSpPr>
        <p:spPr>
          <a:xfrm>
            <a:off x="457200" y="841248"/>
            <a:ext cx="8229600" cy="36576"/>
          </a:xfrm>
          <a:prstGeom prst="rect">
            <a:avLst/>
          </a:prstGeom>
          <a:solidFill>
            <a:srgbClr val="065A82"/>
          </a:solidFill>
          <a:ln w="12700">
            <a:solidFill>
              <a:srgbClr val="065A82"/>
            </a:solidFill>
            <a:prstDash val="solid"/>
          </a:ln>
        </p:spPr>
      </p:sp>
      <p:graphicFrame>
        <p:nvGraphicFramePr>
          <p:cNvPr id="4" name="Chart 0" descr=""/>
          <p:cNvGraphicFramePr/>
          <p:nvPr/>
        </p:nvGraphicFramePr>
        <p:xfrm>
          <a:off x="457200" y="960120"/>
          <a:ext cx="530352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943600" y="960120"/>
          <a:ext cx="2926080" cy="292608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457200" y="4023360"/>
            <a:ext cx="8229600" cy="822960"/>
          </a:xfrm>
          <a:prstGeom prst="rect">
            <a:avLst/>
          </a:prstGeom>
          <a:solidFill>
            <a:srgbClr val="0D1F2D"/>
          </a:solidFill>
          <a:ln w="12700">
            <a:solidFill>
              <a:srgbClr val="0D1F2D"/>
            </a:solidFill>
            <a:prstDash val="solid"/>
          </a:ln>
        </p:spPr>
      </p:sp>
      <p:sp>
        <p:nvSpPr>
          <p:cNvPr id="7" name="Text 3"/>
          <p:cNvSpPr/>
          <p:nvPr/>
        </p:nvSpPr>
        <p:spPr>
          <a:xfrm>
            <a:off x="594360" y="4133088"/>
            <a:ext cx="1645920" cy="274320"/>
          </a:xfrm>
          <a:prstGeom prst="rect">
            <a:avLst/>
          </a:prstGeom>
          <a:noFill/>
          <a:ln/>
        </p:spPr>
        <p:txBody>
          <a:bodyPr wrap="square" lIns="0" tIns="0" rIns="0" bIns="0" rtlCol="0" anchor="ctr"/>
          <a:lstStyle/>
          <a:p>
            <a:pPr indent="0" marL="0">
              <a:buNone/>
            </a:pPr>
            <a:r>
              <a:rPr lang="en-US" sz="1100" b="1" dirty="0">
                <a:solidFill>
                  <a:srgbClr val="1C7293"/>
                </a:solidFill>
              </a:rPr>
              <a:t>Temporal Split:  </a:t>
            </a:r>
            <a:endParaRPr lang="en-US" sz="1100" dirty="0"/>
          </a:p>
        </p:txBody>
      </p:sp>
      <p:sp>
        <p:nvSpPr>
          <p:cNvPr id="8" name="Text 4"/>
          <p:cNvSpPr/>
          <p:nvPr/>
        </p:nvSpPr>
        <p:spPr>
          <a:xfrm>
            <a:off x="2103120" y="4133088"/>
            <a:ext cx="6400800" cy="274320"/>
          </a:xfrm>
          <a:prstGeom prst="rect">
            <a:avLst/>
          </a:prstGeom>
          <a:noFill/>
          <a:ln/>
        </p:spPr>
        <p:txBody>
          <a:bodyPr wrap="square" lIns="0" tIns="0" rIns="0" bIns="0" rtlCol="0" anchor="ctr"/>
          <a:lstStyle/>
          <a:p>
            <a:pPr indent="0" marL="0">
              <a:buNone/>
            </a:pPr>
            <a:r>
              <a:rPr lang="en-US" sz="1100" dirty="0">
                <a:solidFill>
                  <a:srgbClr val="FFFFFF"/>
                </a:solidFill>
              </a:rPr>
              <a:t>Past Period (2015–2021) → Predictor Variables     |     Future Period (2022–2024) → Target Variable (hotspot label)</a:t>
            </a:r>
            <a:endParaRPr lang="en-US" sz="1100" dirty="0"/>
          </a:p>
        </p:txBody>
      </p:sp>
      <p:sp>
        <p:nvSpPr>
          <p:cNvPr id="9" name="Text 5"/>
          <p:cNvSpPr/>
          <p:nvPr/>
        </p:nvSpPr>
        <p:spPr>
          <a:xfrm>
            <a:off x="594360" y="4407408"/>
            <a:ext cx="8046720" cy="228600"/>
          </a:xfrm>
          <a:prstGeom prst="rect">
            <a:avLst/>
          </a:prstGeom>
          <a:noFill/>
          <a:ln/>
        </p:spPr>
        <p:txBody>
          <a:bodyPr wrap="square" lIns="0" tIns="0" rIns="0" bIns="0" rtlCol="0" anchor="ctr"/>
          <a:lstStyle/>
          <a:p>
            <a:pPr indent="0" marL="0">
              <a:buNone/>
            </a:pPr>
            <a:r>
              <a:rPr lang="en-US" sz="900" dirty="0">
                <a:solidFill>
                  <a:srgbClr val="E2E8F0"/>
                </a:solidFill>
              </a:rPr>
              <a:t>30,782 past incidents used to build features   ·   22,482 future incidents used to create hotspot labels</a:t>
            </a:r>
            <a:endParaRPr lang="en-US" sz="900" dirty="0"/>
          </a:p>
        </p:txBody>
      </p:sp>
      <p:sp>
        <p:nvSpPr>
          <p:cNvPr id="10" name="Text 6"/>
          <p:cNvSpPr/>
          <p:nvPr/>
        </p:nvSpPr>
        <p:spPr>
          <a:xfrm>
            <a:off x="457200" y="4892040"/>
            <a:ext cx="8229600" cy="201168"/>
          </a:xfrm>
          <a:prstGeom prst="rect">
            <a:avLst/>
          </a:prstGeom>
          <a:noFill/>
          <a:ln/>
        </p:spPr>
        <p:txBody>
          <a:bodyPr wrap="square" lIns="0" tIns="0" rIns="0" bIns="0" rtlCol="0" anchor="ctr"/>
          <a:lstStyle/>
          <a:p>
            <a:pPr indent="0" marL="0">
              <a:buNone/>
            </a:pPr>
            <a:r>
              <a:rPr lang="en-US" sz="800" dirty="0">
                <a:solidFill>
                  <a:srgbClr val="64748B"/>
                </a:solidFill>
              </a:rPr>
              <a:t>Source: Open Baltimore — BPD Part 1 Victim Based Crime Data (ArcGIS REST API)</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D1F2D"/>
                </a:solidFill>
              </a:rPr>
              <a:t>Feature Variables (Predictors)</a:t>
            </a:r>
            <a:endParaRPr lang="en-US" sz="2800" dirty="0"/>
          </a:p>
        </p:txBody>
      </p:sp>
      <p:sp>
        <p:nvSpPr>
          <p:cNvPr id="3" name="Shape 1"/>
          <p:cNvSpPr/>
          <p:nvPr/>
        </p:nvSpPr>
        <p:spPr>
          <a:xfrm>
            <a:off x="457200" y="841248"/>
            <a:ext cx="8229600" cy="36576"/>
          </a:xfrm>
          <a:prstGeom prst="rect">
            <a:avLst/>
          </a:prstGeom>
          <a:solidFill>
            <a:srgbClr val="065A82"/>
          </a:solidFill>
          <a:ln w="12700">
            <a:solidFill>
              <a:srgbClr val="065A82"/>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3931920"/>
        </p:xfrm>
        <a:graphic>
          <a:graphicData uri="http://schemas.openxmlformats.org/drawingml/2006/table">
            <a:tbl>
              <a:tblPr/>
              <a:tblGrid>
                <a:gridCol w="2377440"/>
                <a:gridCol w="3657600"/>
                <a:gridCol w="2194560"/>
              </a:tblGrid>
              <a:tr h="347472">
                <a:tc>
                  <a:txBody>
                    <a:bodyPr/>
                    <a:lstStyle/>
                    <a:p>
                      <a:pPr indent="0" marL="0">
                        <a:buNone/>
                      </a:pPr>
                      <a:r>
                        <a:rPr lang="en-US" sz="950" b="1" dirty="0">
                          <a:solidFill>
                            <a:srgbClr val="FFFFFF"/>
                          </a:solidFill>
                        </a:rPr>
                        <a:t>Feature</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950" b="1" dirty="0">
                          <a:solidFill>
                            <a:srgbClr val="FFFFFF"/>
                          </a:solidFill>
                        </a:rPr>
                        <a:t>Description</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950" b="1" dirty="0">
                          <a:solidFill>
                            <a:srgbClr val="FFFFFF"/>
                          </a:solidFill>
                        </a:rPr>
                        <a:t>Source</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065A82"/>
                    </a:solidFill>
                  </a:tcPr>
                </a:tc>
              </a:tr>
              <a:tr h="347472">
                <a:tc>
                  <a:txBody>
                    <a:bodyPr/>
                    <a:lstStyle/>
                    <a:p>
                      <a:pPr indent="0" marL="0">
                        <a:buNone/>
                      </a:pPr>
                      <a:r>
                        <a:rPr lang="en-US" sz="950" b="1" dirty="0">
                          <a:solidFill>
                            <a:srgbClr val="0D1F2D"/>
                          </a:solidFill>
                        </a:rPr>
                        <a:t>past_vehicle_crime_count</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50" dirty="0">
                          <a:solidFill>
                            <a:srgbClr val="2D3748"/>
                          </a:solidFill>
                        </a:rPr>
                        <a:t>Crime incidents 2015–2021 per cell</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50" dirty="0">
                          <a:solidFill>
                            <a:srgbClr val="2D3748"/>
                          </a:solidFill>
                        </a:rPr>
                        <a:t>Open Baltimore</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r>
              <a:tr h="347472">
                <a:tc>
                  <a:txBody>
                    <a:bodyPr/>
                    <a:lstStyle/>
                    <a:p>
                      <a:pPr indent="0" marL="0">
                        <a:buNone/>
                      </a:pPr>
                      <a:r>
                        <a:rPr lang="en-US" sz="950" b="1" dirty="0">
                          <a:solidFill>
                            <a:srgbClr val="0D1F2D"/>
                          </a:solidFill>
                        </a:rPr>
                        <a:t>road_density</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2D3748"/>
                          </a:solidFill>
                        </a:rPr>
                        <a:t>Total road length / cell area (m/m²)</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2D3748"/>
                          </a:solidFill>
                        </a:rPr>
                        <a:t>OpenStreetMap</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950" b="1" dirty="0">
                          <a:solidFill>
                            <a:srgbClr val="0D1F2D"/>
                          </a:solidFill>
                        </a:rPr>
                        <a:t>intersection_count</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50" dirty="0">
                          <a:solidFill>
                            <a:srgbClr val="2D3748"/>
                          </a:solidFill>
                        </a:rPr>
                        <a:t>Road nodes with 3+ connections per cell</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50" dirty="0">
                          <a:solidFill>
                            <a:srgbClr val="2D3748"/>
                          </a:solidFill>
                        </a:rPr>
                        <a:t>OpenStreetMap</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r>
              <a:tr h="347472">
                <a:tc>
                  <a:txBody>
                    <a:bodyPr/>
                    <a:lstStyle/>
                    <a:p>
                      <a:pPr indent="0" marL="0">
                        <a:buNone/>
                      </a:pPr>
                      <a:r>
                        <a:rPr lang="en-US" sz="950" b="1" dirty="0">
                          <a:solidFill>
                            <a:srgbClr val="0D1F2D"/>
                          </a:solidFill>
                        </a:rPr>
                        <a:t>population_density</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2D3748"/>
                          </a:solidFill>
                        </a:rPr>
                        <a:t>Persons per km² from Census block groups</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2D3748"/>
                          </a:solidFill>
                        </a:rPr>
                        <a:t>US Census ACS 2020</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950" b="1" dirty="0">
                          <a:solidFill>
                            <a:srgbClr val="0D1F2D"/>
                          </a:solidFill>
                        </a:rPr>
                        <a:t>transit_stop_count</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50" dirty="0">
                          <a:solidFill>
                            <a:srgbClr val="2D3748"/>
                          </a:solidFill>
                        </a:rPr>
                        <a:t>Bus stops and rail stations per cell</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50" dirty="0">
                          <a:solidFill>
                            <a:srgbClr val="2D3748"/>
                          </a:solidFill>
                        </a:rPr>
                        <a:t>OpenStreetMap</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r>
              <a:tr h="347472">
                <a:tc>
                  <a:txBody>
                    <a:bodyPr/>
                    <a:lstStyle/>
                    <a:p>
                      <a:pPr indent="0" marL="0">
                        <a:buNone/>
                      </a:pPr>
                      <a:r>
                        <a:rPr lang="en-US" sz="950" b="1" dirty="0">
                          <a:solidFill>
                            <a:srgbClr val="0D1F2D"/>
                          </a:solidFill>
                        </a:rPr>
                        <a:t>commercial_count</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2D3748"/>
                          </a:solidFill>
                        </a:rPr>
                        <a:t>Commercial / retail land use polygons</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2D3748"/>
                          </a:solidFill>
                        </a:rPr>
                        <a:t>OpenStreetMap</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950" b="1" dirty="0">
                          <a:solidFill>
                            <a:srgbClr val="0D1F2D"/>
                          </a:solidFill>
                        </a:rPr>
                        <a:t>parking_lot_count</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50" dirty="0">
                          <a:solidFill>
                            <a:srgbClr val="2D3748"/>
                          </a:solidFill>
                        </a:rPr>
                        <a:t>Parking lot features per cell</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50" dirty="0">
                          <a:solidFill>
                            <a:srgbClr val="2D3748"/>
                          </a:solidFill>
                        </a:rPr>
                        <a:t>OpenStreetMap</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r>
              <a:tr h="347472">
                <a:tc>
                  <a:txBody>
                    <a:bodyPr/>
                    <a:lstStyle/>
                    <a:p>
                      <a:pPr indent="0" marL="0">
                        <a:buNone/>
                      </a:pPr>
                      <a:r>
                        <a:rPr lang="en-US" sz="950" b="1" dirty="0">
                          <a:solidFill>
                            <a:srgbClr val="0D1F2D"/>
                          </a:solidFill>
                        </a:rPr>
                        <a:t>gas_station_count</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2D3748"/>
                          </a:solidFill>
                        </a:rPr>
                        <a:t>Gas station features per cell</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2D3748"/>
                          </a:solidFill>
                        </a:rPr>
                        <a:t>OpenStreetMap</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950" b="1" dirty="0">
                          <a:solidFill>
                            <a:srgbClr val="0D1F2D"/>
                          </a:solidFill>
                        </a:rPr>
                        <a:t>shopping_count</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50" dirty="0">
                          <a:solidFill>
                            <a:srgbClr val="2D3748"/>
                          </a:solidFill>
                        </a:rPr>
                        <a:t>Shops and retail stores per cell</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50" dirty="0">
                          <a:solidFill>
                            <a:srgbClr val="2D3748"/>
                          </a:solidFill>
                        </a:rPr>
                        <a:t>OpenStreetMap</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r>
              <a:tr h="347472">
                <a:tc>
                  <a:txBody>
                    <a:bodyPr/>
                    <a:lstStyle/>
                    <a:p>
                      <a:pPr indent="0" marL="0">
                        <a:buNone/>
                      </a:pPr>
                      <a:r>
                        <a:rPr lang="en-US" sz="950" b="1" dirty="0">
                          <a:solidFill>
                            <a:srgbClr val="0D1F2D"/>
                          </a:solidFill>
                        </a:rPr>
                        <a:t>dist_to_downtown_m</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2D3748"/>
                          </a:solidFill>
                        </a:rPr>
                        <a:t>Distance from cell centroid to Inner Harbor</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dirty="0">
                          <a:solidFill>
                            <a:srgbClr val="2D3748"/>
                          </a:solidFill>
                        </a:rPr>
                        <a:t>Calculated</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950" b="1" dirty="0">
                          <a:solidFill>
                            <a:srgbClr val="0D1F2D"/>
                          </a:solidFill>
                        </a:rPr>
                        <a:t>centroid_x / centroid_y</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50" dirty="0">
                          <a:solidFill>
                            <a:srgbClr val="2D3748"/>
                          </a:solidFill>
                        </a:rPr>
                        <a:t>Spatial coordinates of cell centroid (UTM)</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50" dirty="0">
                          <a:solidFill>
                            <a:srgbClr val="2D3748"/>
                          </a:solidFill>
                        </a:rPr>
                        <a:t>Calculated</a:t>
                      </a:r>
                      <a:endParaRPr lang="en-US" sz="95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r>
            </a:tbl>
          </a:graphicData>
        </a:graphic>
      </p:graphicFrame>
      <p:sp>
        <p:nvSpPr>
          <p:cNvPr id="5" name="Text 2"/>
          <p:cNvSpPr/>
          <p:nvPr/>
        </p:nvSpPr>
        <p:spPr>
          <a:xfrm>
            <a:off x="457200" y="4873752"/>
            <a:ext cx="8229600" cy="201168"/>
          </a:xfrm>
          <a:prstGeom prst="rect">
            <a:avLst/>
          </a:prstGeom>
          <a:noFill/>
          <a:ln/>
        </p:spPr>
        <p:txBody>
          <a:bodyPr wrap="square" lIns="0" tIns="0" rIns="0" bIns="0" rtlCol="0" anchor="ctr"/>
          <a:lstStyle/>
          <a:p>
            <a:pPr indent="0" marL="0">
              <a:buNone/>
            </a:pPr>
            <a:r>
              <a:rPr lang="en-US" sz="800" b="1" dirty="0">
                <a:solidFill>
                  <a:srgbClr val="065A82"/>
                </a:solidFill>
              </a:rPr>
              <a:t>Target Variable: future_hotspot = 1 if future crime count ≥ 24 (top 25% of grid cells), else 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D1F2D"/>
                </a:solidFill>
              </a:rPr>
              <a:t>Actual Future Hotspot Areas</a:t>
            </a:r>
            <a:endParaRPr lang="en-US" sz="2800" dirty="0"/>
          </a:p>
        </p:txBody>
      </p:sp>
      <p:sp>
        <p:nvSpPr>
          <p:cNvPr id="3" name="Shape 1"/>
          <p:cNvSpPr/>
          <p:nvPr/>
        </p:nvSpPr>
        <p:spPr>
          <a:xfrm>
            <a:off x="457200" y="841248"/>
            <a:ext cx="8229600" cy="36576"/>
          </a:xfrm>
          <a:prstGeom prst="rect">
            <a:avLst/>
          </a:prstGeom>
          <a:solidFill>
            <a:srgbClr val="065A82"/>
          </a:solidFill>
          <a:ln w="12700">
            <a:solidFill>
              <a:srgbClr val="065A82"/>
            </a:solidFill>
            <a:prstDash val="solid"/>
          </a:ln>
        </p:spPr>
      </p:sp>
      <p:pic>
        <p:nvPicPr>
          <p:cNvPr id="4" name="Image 0" descr="/mnt/user-data/uploads/10_actual_hotspot_map.png">    </p:cNvPr>
          <p:cNvPicPr>
            <a:picLocks noChangeAspect="1"/>
          </p:cNvPicPr>
          <p:nvPr/>
        </p:nvPicPr>
        <p:blipFill>
          <a:blip r:embed="rId1"/>
          <a:stretch>
            <a:fillRect/>
          </a:stretch>
        </p:blipFill>
        <p:spPr>
          <a:xfrm>
            <a:off x="457200" y="1005840"/>
            <a:ext cx="5486400" cy="3840480"/>
          </a:xfrm>
          <a:prstGeom prst="rect">
            <a:avLst/>
          </a:prstGeom>
        </p:spPr>
      </p:pic>
      <p:sp>
        <p:nvSpPr>
          <p:cNvPr id="5" name="Shape 2"/>
          <p:cNvSpPr/>
          <p:nvPr/>
        </p:nvSpPr>
        <p:spPr>
          <a:xfrm>
            <a:off x="6217920" y="1005840"/>
            <a:ext cx="2651760" cy="822960"/>
          </a:xfrm>
          <a:prstGeom prst="rect">
            <a:avLst/>
          </a:prstGeom>
          <a:solidFill>
            <a:srgbClr val="0D1F2D"/>
          </a:solidFill>
          <a:ln w="12700">
            <a:solidFill>
              <a:srgbClr val="0D1F2D"/>
            </a:solidFill>
            <a:prstDash val="solid"/>
          </a:ln>
          <a:effectLst>
            <a:outerShdw sx="100000" sy="100000" kx="0" ky="0" algn="bl" rotWithShape="0" blurRad="101600" dist="38100" dir="8100000">
              <a:srgbClr val="000000">
                <a:alpha val="12000"/>
              </a:srgbClr>
            </a:outerShdw>
          </a:effectLst>
        </p:spPr>
      </p:sp>
      <p:sp>
        <p:nvSpPr>
          <p:cNvPr id="6" name="Text 3"/>
          <p:cNvSpPr/>
          <p:nvPr/>
        </p:nvSpPr>
        <p:spPr>
          <a:xfrm>
            <a:off x="6309360" y="1042416"/>
            <a:ext cx="2468880" cy="347472"/>
          </a:xfrm>
          <a:prstGeom prst="rect">
            <a:avLst/>
          </a:prstGeom>
          <a:noFill/>
          <a:ln/>
        </p:spPr>
        <p:txBody>
          <a:bodyPr wrap="square" lIns="0" tIns="0" rIns="0" bIns="0" rtlCol="0" anchor="ctr"/>
          <a:lstStyle/>
          <a:p>
            <a:pPr algn="ctr" indent="0" marL="0">
              <a:buNone/>
            </a:pPr>
            <a:r>
              <a:rPr lang="en-US" sz="2400" b="1" dirty="0">
                <a:solidFill>
                  <a:srgbClr val="FFFFFF"/>
                </a:solidFill>
              </a:rPr>
              <a:t>263</a:t>
            </a:r>
            <a:endParaRPr lang="en-US" sz="2400" dirty="0"/>
          </a:p>
        </p:txBody>
      </p:sp>
      <p:sp>
        <p:nvSpPr>
          <p:cNvPr id="7" name="Text 4"/>
          <p:cNvSpPr/>
          <p:nvPr/>
        </p:nvSpPr>
        <p:spPr>
          <a:xfrm>
            <a:off x="6309360" y="1408176"/>
            <a:ext cx="2468880" cy="347472"/>
          </a:xfrm>
          <a:prstGeom prst="rect">
            <a:avLst/>
          </a:prstGeom>
          <a:noFill/>
          <a:ln/>
        </p:spPr>
        <p:txBody>
          <a:bodyPr wrap="square" lIns="0" tIns="0" rIns="0" bIns="0" rtlCol="0" anchor="ctr"/>
          <a:lstStyle/>
          <a:p>
            <a:pPr algn="ctr" indent="0" marL="0">
              <a:buNone/>
            </a:pPr>
            <a:r>
              <a:rPr lang="en-US" sz="850" dirty="0">
                <a:solidFill>
                  <a:srgbClr val="E2E8F0"/>
                </a:solidFill>
              </a:rPr>
              <a:t>Hotspot Cells</a:t>
            </a:r>
            <a:endParaRPr lang="en-US" sz="850" dirty="0"/>
          </a:p>
          <a:p>
            <a:pPr algn="ctr" indent="0" marL="0">
              <a:buNone/>
            </a:pPr>
            <a:r>
              <a:rPr lang="en-US" sz="850" dirty="0">
                <a:solidFill>
                  <a:srgbClr val="E2E8F0"/>
                </a:solidFill>
              </a:rPr>
              <a:t>top 25% by future crime count</a:t>
            </a:r>
            <a:endParaRPr lang="en-US" sz="850" dirty="0"/>
          </a:p>
        </p:txBody>
      </p:sp>
      <p:sp>
        <p:nvSpPr>
          <p:cNvPr id="8" name="Shape 5"/>
          <p:cNvSpPr/>
          <p:nvPr/>
        </p:nvSpPr>
        <p:spPr>
          <a:xfrm>
            <a:off x="6217920" y="1965960"/>
            <a:ext cx="2651760" cy="822960"/>
          </a:xfrm>
          <a:prstGeom prst="rect">
            <a:avLst/>
          </a:prstGeom>
          <a:solidFill>
            <a:srgbClr val="065A82"/>
          </a:solidFill>
          <a:ln w="12700">
            <a:solidFill>
              <a:srgbClr val="065A82"/>
            </a:solidFill>
            <a:prstDash val="solid"/>
          </a:ln>
          <a:effectLst>
            <a:outerShdw sx="100000" sy="100000" kx="0" ky="0" algn="bl" rotWithShape="0" blurRad="101600" dist="38100" dir="8100000">
              <a:srgbClr val="000000">
                <a:alpha val="12000"/>
              </a:srgbClr>
            </a:outerShdw>
          </a:effectLst>
        </p:spPr>
      </p:sp>
      <p:sp>
        <p:nvSpPr>
          <p:cNvPr id="9" name="Text 6"/>
          <p:cNvSpPr/>
          <p:nvPr/>
        </p:nvSpPr>
        <p:spPr>
          <a:xfrm>
            <a:off x="6309360" y="2002536"/>
            <a:ext cx="2468880" cy="347472"/>
          </a:xfrm>
          <a:prstGeom prst="rect">
            <a:avLst/>
          </a:prstGeom>
          <a:noFill/>
          <a:ln/>
        </p:spPr>
        <p:txBody>
          <a:bodyPr wrap="square" lIns="0" tIns="0" rIns="0" bIns="0" rtlCol="0" anchor="ctr"/>
          <a:lstStyle/>
          <a:p>
            <a:pPr algn="ctr" indent="0" marL="0">
              <a:buNone/>
            </a:pPr>
            <a:r>
              <a:rPr lang="en-US" sz="2400" b="1" dirty="0">
                <a:solidFill>
                  <a:srgbClr val="FFFFFF"/>
                </a:solidFill>
              </a:rPr>
              <a:t>759</a:t>
            </a:r>
            <a:endParaRPr lang="en-US" sz="2400" dirty="0"/>
          </a:p>
        </p:txBody>
      </p:sp>
      <p:sp>
        <p:nvSpPr>
          <p:cNvPr id="10" name="Text 7"/>
          <p:cNvSpPr/>
          <p:nvPr/>
        </p:nvSpPr>
        <p:spPr>
          <a:xfrm>
            <a:off x="6309360" y="2368296"/>
            <a:ext cx="2468880" cy="347472"/>
          </a:xfrm>
          <a:prstGeom prst="rect">
            <a:avLst/>
          </a:prstGeom>
          <a:noFill/>
          <a:ln/>
        </p:spPr>
        <p:txBody>
          <a:bodyPr wrap="square" lIns="0" tIns="0" rIns="0" bIns="0" rtlCol="0" anchor="ctr"/>
          <a:lstStyle/>
          <a:p>
            <a:pPr algn="ctr" indent="0" marL="0">
              <a:buNone/>
            </a:pPr>
            <a:r>
              <a:rPr lang="en-US" sz="850" dirty="0">
                <a:solidFill>
                  <a:srgbClr val="E2E8F0"/>
                </a:solidFill>
              </a:rPr>
              <a:t>Non-Hotspot Cells</a:t>
            </a:r>
            <a:endParaRPr lang="en-US" sz="850" dirty="0"/>
          </a:p>
          <a:p>
            <a:pPr algn="ctr" indent="0" marL="0">
              <a:buNone/>
            </a:pPr>
            <a:r>
              <a:rPr lang="en-US" sz="850" dirty="0">
                <a:solidFill>
                  <a:srgbClr val="E2E8F0"/>
                </a:solidFill>
              </a:rPr>
              <a:t>74.3% of all cells</a:t>
            </a:r>
            <a:endParaRPr lang="en-US" sz="850" dirty="0"/>
          </a:p>
        </p:txBody>
      </p:sp>
      <p:sp>
        <p:nvSpPr>
          <p:cNvPr id="11" name="Shape 8"/>
          <p:cNvSpPr/>
          <p:nvPr/>
        </p:nvSpPr>
        <p:spPr>
          <a:xfrm>
            <a:off x="6217920" y="2926080"/>
            <a:ext cx="2651760" cy="822960"/>
          </a:xfrm>
          <a:prstGeom prst="rect">
            <a:avLst/>
          </a:prstGeom>
          <a:solidFill>
            <a:srgbClr val="0D1F2D"/>
          </a:solidFill>
          <a:ln w="12700">
            <a:solidFill>
              <a:srgbClr val="0D1F2D"/>
            </a:solidFill>
            <a:prstDash val="solid"/>
          </a:ln>
          <a:effectLst>
            <a:outerShdw sx="100000" sy="100000" kx="0" ky="0" algn="bl" rotWithShape="0" blurRad="101600" dist="38100" dir="8100000">
              <a:srgbClr val="000000">
                <a:alpha val="12000"/>
              </a:srgbClr>
            </a:outerShdw>
          </a:effectLst>
        </p:spPr>
      </p:sp>
      <p:sp>
        <p:nvSpPr>
          <p:cNvPr id="12" name="Text 9"/>
          <p:cNvSpPr/>
          <p:nvPr/>
        </p:nvSpPr>
        <p:spPr>
          <a:xfrm>
            <a:off x="6309360" y="2962656"/>
            <a:ext cx="2468880" cy="347472"/>
          </a:xfrm>
          <a:prstGeom prst="rect">
            <a:avLst/>
          </a:prstGeom>
          <a:noFill/>
          <a:ln/>
        </p:spPr>
        <p:txBody>
          <a:bodyPr wrap="square" lIns="0" tIns="0" rIns="0" bIns="0" rtlCol="0" anchor="ctr"/>
          <a:lstStyle/>
          <a:p>
            <a:pPr algn="ctr" indent="0" marL="0">
              <a:buNone/>
            </a:pPr>
            <a:r>
              <a:rPr lang="en-US" sz="2400" b="1" dirty="0">
                <a:solidFill>
                  <a:srgbClr val="FFFFFF"/>
                </a:solidFill>
              </a:rPr>
              <a:t>≥24</a:t>
            </a:r>
            <a:endParaRPr lang="en-US" sz="2400" dirty="0"/>
          </a:p>
        </p:txBody>
      </p:sp>
      <p:sp>
        <p:nvSpPr>
          <p:cNvPr id="13" name="Text 10"/>
          <p:cNvSpPr/>
          <p:nvPr/>
        </p:nvSpPr>
        <p:spPr>
          <a:xfrm>
            <a:off x="6309360" y="3328416"/>
            <a:ext cx="2468880" cy="347472"/>
          </a:xfrm>
          <a:prstGeom prst="rect">
            <a:avLst/>
          </a:prstGeom>
          <a:noFill/>
          <a:ln/>
        </p:spPr>
        <p:txBody>
          <a:bodyPr wrap="square" lIns="0" tIns="0" rIns="0" bIns="0" rtlCol="0" anchor="ctr"/>
          <a:lstStyle/>
          <a:p>
            <a:pPr algn="ctr" indent="0" marL="0">
              <a:buNone/>
            </a:pPr>
            <a:r>
              <a:rPr lang="en-US" sz="850" dirty="0">
                <a:solidFill>
                  <a:srgbClr val="E2E8F0"/>
                </a:solidFill>
              </a:rPr>
              <a:t>Crime Threshold</a:t>
            </a:r>
            <a:endParaRPr lang="en-US" sz="850" dirty="0"/>
          </a:p>
          <a:p>
            <a:pPr algn="ctr" indent="0" marL="0">
              <a:buNone/>
            </a:pPr>
            <a:r>
              <a:rPr lang="en-US" sz="850" dirty="0">
                <a:solidFill>
                  <a:srgbClr val="E2E8F0"/>
                </a:solidFill>
              </a:rPr>
              <a:t>minimum crimes to be a hotspot</a:t>
            </a:r>
            <a:endParaRPr lang="en-US" sz="850" dirty="0"/>
          </a:p>
        </p:txBody>
      </p:sp>
      <p:sp>
        <p:nvSpPr>
          <p:cNvPr id="14" name="Shape 11"/>
          <p:cNvSpPr/>
          <p:nvPr/>
        </p:nvSpPr>
        <p:spPr>
          <a:xfrm>
            <a:off x="6217920" y="3886200"/>
            <a:ext cx="2651760" cy="822960"/>
          </a:xfrm>
          <a:prstGeom prst="rect">
            <a:avLst/>
          </a:prstGeom>
          <a:solidFill>
            <a:srgbClr val="065A82"/>
          </a:solidFill>
          <a:ln w="12700">
            <a:solidFill>
              <a:srgbClr val="065A82"/>
            </a:solidFill>
            <a:prstDash val="solid"/>
          </a:ln>
          <a:effectLst>
            <a:outerShdw sx="100000" sy="100000" kx="0" ky="0" algn="bl" rotWithShape="0" blurRad="101600" dist="38100" dir="8100000">
              <a:srgbClr val="000000">
                <a:alpha val="12000"/>
              </a:srgbClr>
            </a:outerShdw>
          </a:effectLst>
        </p:spPr>
      </p:sp>
      <p:sp>
        <p:nvSpPr>
          <p:cNvPr id="15" name="Text 12"/>
          <p:cNvSpPr/>
          <p:nvPr/>
        </p:nvSpPr>
        <p:spPr>
          <a:xfrm>
            <a:off x="6309360" y="3922776"/>
            <a:ext cx="2468880" cy="347472"/>
          </a:xfrm>
          <a:prstGeom prst="rect">
            <a:avLst/>
          </a:prstGeom>
          <a:noFill/>
          <a:ln/>
        </p:spPr>
        <p:txBody>
          <a:bodyPr wrap="square" lIns="0" tIns="0" rIns="0" bIns="0" rtlCol="0" anchor="ctr"/>
          <a:lstStyle/>
          <a:p>
            <a:pPr algn="ctr" indent="0" marL="0">
              <a:buNone/>
            </a:pPr>
            <a:r>
              <a:rPr lang="en-US" sz="2400" b="1" dirty="0">
                <a:solidFill>
                  <a:srgbClr val="FFFFFF"/>
                </a:solidFill>
              </a:rPr>
              <a:t>500m</a:t>
            </a:r>
            <a:endParaRPr lang="en-US" sz="2400" dirty="0"/>
          </a:p>
        </p:txBody>
      </p:sp>
      <p:sp>
        <p:nvSpPr>
          <p:cNvPr id="16" name="Text 13"/>
          <p:cNvSpPr/>
          <p:nvPr/>
        </p:nvSpPr>
        <p:spPr>
          <a:xfrm>
            <a:off x="6309360" y="4288536"/>
            <a:ext cx="2468880" cy="347472"/>
          </a:xfrm>
          <a:prstGeom prst="rect">
            <a:avLst/>
          </a:prstGeom>
          <a:noFill/>
          <a:ln/>
        </p:spPr>
        <p:txBody>
          <a:bodyPr wrap="square" lIns="0" tIns="0" rIns="0" bIns="0" rtlCol="0" anchor="ctr"/>
          <a:lstStyle/>
          <a:p>
            <a:pPr algn="ctr" indent="0" marL="0">
              <a:buNone/>
            </a:pPr>
            <a:r>
              <a:rPr lang="en-US" sz="850" dirty="0">
                <a:solidFill>
                  <a:srgbClr val="E2E8F0"/>
                </a:solidFill>
              </a:rPr>
              <a:t>Grid Cell Size</a:t>
            </a:r>
            <a:endParaRPr lang="en-US" sz="850" dirty="0"/>
          </a:p>
          <a:p>
            <a:pPr algn="ctr" indent="0" marL="0">
              <a:buNone/>
            </a:pPr>
            <a:r>
              <a:rPr lang="en-US" sz="850" dirty="0">
                <a:solidFill>
                  <a:srgbClr val="E2E8F0"/>
                </a:solidFill>
              </a:rPr>
              <a:t>spatial resolution</a:t>
            </a:r>
            <a:endParaRPr lang="en-US" sz="850" dirty="0"/>
          </a:p>
        </p:txBody>
      </p:sp>
      <p:sp>
        <p:nvSpPr>
          <p:cNvPr id="17" name="Text 14"/>
          <p:cNvSpPr/>
          <p:nvPr/>
        </p:nvSpPr>
        <p:spPr>
          <a:xfrm>
            <a:off x="457200" y="4892040"/>
            <a:ext cx="8229600" cy="201168"/>
          </a:xfrm>
          <a:prstGeom prst="rect">
            <a:avLst/>
          </a:prstGeom>
          <a:noFill/>
          <a:ln/>
        </p:spPr>
        <p:txBody>
          <a:bodyPr wrap="square" lIns="0" tIns="0" rIns="0" bIns="0" rtlCol="0" anchor="ctr"/>
          <a:lstStyle/>
          <a:p>
            <a:pPr indent="0" marL="0">
              <a:buNone/>
            </a:pPr>
            <a:r>
              <a:rPr lang="en-US" sz="800" dirty="0">
                <a:solidFill>
                  <a:srgbClr val="64748B"/>
                </a:solidFill>
              </a:rPr>
              <a:t>Source: Open Baltimore BPD Crime Data (2022–2024)  ·  Analysis: 500m fishnet grid</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D1F2D"/>
                </a:solidFill>
              </a:rPr>
              <a:t>Why These Algorithms?</a:t>
            </a:r>
            <a:endParaRPr lang="en-US" sz="2800" dirty="0"/>
          </a:p>
        </p:txBody>
      </p:sp>
      <p:sp>
        <p:nvSpPr>
          <p:cNvPr id="3" name="Shape 1"/>
          <p:cNvSpPr/>
          <p:nvPr/>
        </p:nvSpPr>
        <p:spPr>
          <a:xfrm>
            <a:off x="457200" y="841248"/>
            <a:ext cx="8229600" cy="36576"/>
          </a:xfrm>
          <a:prstGeom prst="rect">
            <a:avLst/>
          </a:prstGeom>
          <a:solidFill>
            <a:srgbClr val="065A82"/>
          </a:solidFill>
          <a:ln w="12700">
            <a:solidFill>
              <a:srgbClr val="065A82"/>
            </a:solidFill>
            <a:prstDash val="solid"/>
          </a:ln>
        </p:spPr>
      </p:sp>
      <p:sp>
        <p:nvSpPr>
          <p:cNvPr id="4" name="Text 2"/>
          <p:cNvSpPr/>
          <p:nvPr/>
        </p:nvSpPr>
        <p:spPr>
          <a:xfrm>
            <a:off x="457200" y="960120"/>
            <a:ext cx="8229600" cy="320040"/>
          </a:xfrm>
          <a:prstGeom prst="rect">
            <a:avLst/>
          </a:prstGeom>
          <a:noFill/>
          <a:ln/>
        </p:spPr>
        <p:txBody>
          <a:bodyPr wrap="square" lIns="0" tIns="0" rIns="0" bIns="0" rtlCol="0" anchor="ctr"/>
          <a:lstStyle/>
          <a:p>
            <a:pPr indent="0" marL="0">
              <a:buNone/>
            </a:pPr>
            <a:r>
              <a:rPr lang="en-US" sz="1100" i="1" dirty="0">
                <a:solidFill>
                  <a:srgbClr val="2D3748"/>
                </a:solidFill>
              </a:rPr>
              <a:t>This is a binary classification problem: predict hotspot (1) or non-hotspot (0) for each 500m grid cell.</a:t>
            </a:r>
            <a:endParaRPr lang="en-US" sz="1100" dirty="0"/>
          </a:p>
        </p:txBody>
      </p:sp>
      <p:sp>
        <p:nvSpPr>
          <p:cNvPr id="5" name="Shape 3"/>
          <p:cNvSpPr/>
          <p:nvPr/>
        </p:nvSpPr>
        <p:spPr>
          <a:xfrm>
            <a:off x="457200" y="1371600"/>
            <a:ext cx="2606040" cy="3520440"/>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1371600"/>
            <a:ext cx="2606040" cy="594360"/>
          </a:xfrm>
          <a:prstGeom prst="rect">
            <a:avLst/>
          </a:prstGeom>
          <a:solidFill>
            <a:srgbClr val="1C7293"/>
          </a:solidFill>
          <a:ln w="12700">
            <a:solidFill>
              <a:srgbClr val="1C7293"/>
            </a:solidFill>
            <a:prstDash val="solid"/>
          </a:ln>
        </p:spPr>
      </p:sp>
      <p:sp>
        <p:nvSpPr>
          <p:cNvPr id="7" name="Text 5"/>
          <p:cNvSpPr/>
          <p:nvPr/>
        </p:nvSpPr>
        <p:spPr>
          <a:xfrm>
            <a:off x="530352" y="1408176"/>
            <a:ext cx="457200" cy="320040"/>
          </a:xfrm>
          <a:prstGeom prst="rect">
            <a:avLst/>
          </a:prstGeom>
          <a:noFill/>
          <a:ln/>
        </p:spPr>
        <p:txBody>
          <a:bodyPr wrap="square" lIns="0" tIns="0" rIns="0" bIns="0" rtlCol="0" anchor="ctr"/>
          <a:lstStyle/>
          <a:p>
            <a:pPr indent="0" marL="0">
              <a:buNone/>
            </a:pPr>
            <a:r>
              <a:rPr lang="en-US" sz="1800" b="1" dirty="0">
                <a:solidFill>
                  <a:srgbClr val="FFFFFF"/>
                </a:solidFill>
              </a:rPr>
              <a:t>01</a:t>
            </a:r>
            <a:endParaRPr lang="en-US" sz="1800" dirty="0"/>
          </a:p>
        </p:txBody>
      </p:sp>
      <p:sp>
        <p:nvSpPr>
          <p:cNvPr id="8" name="Text 6"/>
          <p:cNvSpPr/>
          <p:nvPr/>
        </p:nvSpPr>
        <p:spPr>
          <a:xfrm>
            <a:off x="987552" y="1408176"/>
            <a:ext cx="2011680" cy="256032"/>
          </a:xfrm>
          <a:prstGeom prst="rect">
            <a:avLst/>
          </a:prstGeom>
          <a:noFill/>
          <a:ln/>
        </p:spPr>
        <p:txBody>
          <a:bodyPr wrap="square" lIns="0" tIns="0" rIns="0" bIns="0" rtlCol="0" anchor="ctr"/>
          <a:lstStyle/>
          <a:p>
            <a:pPr indent="0" marL="0">
              <a:buNone/>
            </a:pPr>
            <a:r>
              <a:rPr lang="en-US" sz="1000" b="1" dirty="0">
                <a:solidFill>
                  <a:srgbClr val="FFFFFF"/>
                </a:solidFill>
              </a:rPr>
              <a:t>Logistic Regression</a:t>
            </a:r>
            <a:endParaRPr lang="en-US" sz="1000" dirty="0"/>
          </a:p>
        </p:txBody>
      </p:sp>
      <p:sp>
        <p:nvSpPr>
          <p:cNvPr id="9" name="Text 7"/>
          <p:cNvSpPr/>
          <p:nvPr/>
        </p:nvSpPr>
        <p:spPr>
          <a:xfrm>
            <a:off x="987552" y="1673352"/>
            <a:ext cx="2011680" cy="182880"/>
          </a:xfrm>
          <a:prstGeom prst="rect">
            <a:avLst/>
          </a:prstGeom>
          <a:noFill/>
          <a:ln/>
        </p:spPr>
        <p:txBody>
          <a:bodyPr wrap="square" lIns="0" tIns="0" rIns="0" bIns="0" rtlCol="0" anchor="ctr"/>
          <a:lstStyle/>
          <a:p>
            <a:pPr indent="0" marL="0">
              <a:buNone/>
            </a:pPr>
            <a:r>
              <a:rPr lang="en-US" sz="800" dirty="0">
                <a:solidFill>
                  <a:srgbClr val="FFFFFF"/>
                </a:solidFill>
              </a:rPr>
              <a:t>Baseline Model</a:t>
            </a:r>
            <a:endParaRPr lang="en-US" sz="800" dirty="0"/>
          </a:p>
        </p:txBody>
      </p:sp>
      <p:sp>
        <p:nvSpPr>
          <p:cNvPr id="10" name="Text 8"/>
          <p:cNvSpPr/>
          <p:nvPr/>
        </p:nvSpPr>
        <p:spPr>
          <a:xfrm>
            <a:off x="566928" y="2057400"/>
            <a:ext cx="2377440" cy="201168"/>
          </a:xfrm>
          <a:prstGeom prst="rect">
            <a:avLst/>
          </a:prstGeom>
          <a:noFill/>
          <a:ln/>
        </p:spPr>
        <p:txBody>
          <a:bodyPr wrap="square" lIns="0" tIns="0" rIns="0" bIns="0" rtlCol="0" anchor="ctr"/>
          <a:lstStyle/>
          <a:p>
            <a:pPr indent="0" marL="0">
              <a:buNone/>
            </a:pPr>
            <a:r>
              <a:rPr lang="en-US" sz="900" b="1" dirty="0">
                <a:solidFill>
                  <a:srgbClr val="065A82"/>
                </a:solidFill>
              </a:rPr>
              <a:t>Why chosen:</a:t>
            </a:r>
            <a:endParaRPr lang="en-US" sz="900" dirty="0"/>
          </a:p>
        </p:txBody>
      </p:sp>
      <p:sp>
        <p:nvSpPr>
          <p:cNvPr id="11" name="Text 9"/>
          <p:cNvSpPr/>
          <p:nvPr/>
        </p:nvSpPr>
        <p:spPr>
          <a:xfrm>
            <a:off x="566928" y="2258568"/>
            <a:ext cx="2377440" cy="914400"/>
          </a:xfrm>
          <a:prstGeom prst="rect">
            <a:avLst/>
          </a:prstGeom>
          <a:noFill/>
          <a:ln/>
        </p:spPr>
        <p:txBody>
          <a:bodyPr wrap="square" lIns="0" tIns="0" rIns="0" bIns="0" rtlCol="0" anchor="ctr"/>
          <a:lstStyle/>
          <a:p>
            <a:pPr indent="0" marL="0">
              <a:buNone/>
            </a:pPr>
            <a:r>
              <a:rPr lang="en-US" sz="900" dirty="0">
                <a:solidFill>
                  <a:srgbClr val="2D3748"/>
                </a:solidFill>
              </a:rPr>
              <a:t>Provides a clear mathematical formula. Good starting point to measure if a simple linear model is enough.</a:t>
            </a:r>
            <a:endParaRPr lang="en-US" sz="900" dirty="0"/>
          </a:p>
        </p:txBody>
      </p:sp>
      <p:sp>
        <p:nvSpPr>
          <p:cNvPr id="12" name="Text 10"/>
          <p:cNvSpPr/>
          <p:nvPr/>
        </p:nvSpPr>
        <p:spPr>
          <a:xfrm>
            <a:off x="566928" y="3246120"/>
            <a:ext cx="2377440" cy="365760"/>
          </a:xfrm>
          <a:prstGeom prst="rect">
            <a:avLst/>
          </a:prstGeom>
          <a:noFill/>
          <a:ln/>
        </p:spPr>
        <p:txBody>
          <a:bodyPr wrap="square" lIns="0" tIns="0" rIns="0" bIns="0" rtlCol="0" anchor="ctr"/>
          <a:lstStyle/>
          <a:p>
            <a:pPr indent="0" marL="0">
              <a:buNone/>
            </a:pPr>
            <a:r>
              <a:rPr lang="en-US" sz="850" dirty="0">
                <a:solidFill>
                  <a:srgbClr val="1A7A4A"/>
                </a:solidFill>
              </a:rPr>
              <a:t>✓  Fast, interpretable, produces coefficients</a:t>
            </a:r>
            <a:endParaRPr lang="en-US" sz="850" dirty="0"/>
          </a:p>
        </p:txBody>
      </p:sp>
      <p:sp>
        <p:nvSpPr>
          <p:cNvPr id="13" name="Text 11"/>
          <p:cNvSpPr/>
          <p:nvPr/>
        </p:nvSpPr>
        <p:spPr>
          <a:xfrm>
            <a:off x="566928" y="3611880"/>
            <a:ext cx="2377440" cy="320040"/>
          </a:xfrm>
          <a:prstGeom prst="rect">
            <a:avLst/>
          </a:prstGeom>
          <a:noFill/>
          <a:ln/>
        </p:spPr>
        <p:txBody>
          <a:bodyPr wrap="square" lIns="0" tIns="0" rIns="0" bIns="0" rtlCol="0" anchor="ctr"/>
          <a:lstStyle/>
          <a:p>
            <a:pPr indent="0" marL="0">
              <a:buNone/>
            </a:pPr>
            <a:r>
              <a:rPr lang="en-US" sz="850" dirty="0">
                <a:solidFill>
                  <a:srgbClr val="C0392B"/>
                </a:solidFill>
              </a:rPr>
              <a:t>✗  Assumes features relate linearly to outcome</a:t>
            </a:r>
            <a:endParaRPr lang="en-US" sz="850" dirty="0"/>
          </a:p>
        </p:txBody>
      </p:sp>
      <p:sp>
        <p:nvSpPr>
          <p:cNvPr id="14" name="Shape 12"/>
          <p:cNvSpPr/>
          <p:nvPr/>
        </p:nvSpPr>
        <p:spPr>
          <a:xfrm>
            <a:off x="3246120" y="1371600"/>
            <a:ext cx="2606040" cy="3520440"/>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246120" y="1371600"/>
            <a:ext cx="2606040" cy="594360"/>
          </a:xfrm>
          <a:prstGeom prst="rect">
            <a:avLst/>
          </a:prstGeom>
          <a:solidFill>
            <a:srgbClr val="065A82"/>
          </a:solidFill>
          <a:ln w="12700">
            <a:solidFill>
              <a:srgbClr val="065A82"/>
            </a:solidFill>
            <a:prstDash val="solid"/>
          </a:ln>
        </p:spPr>
      </p:sp>
      <p:sp>
        <p:nvSpPr>
          <p:cNvPr id="16" name="Text 14"/>
          <p:cNvSpPr/>
          <p:nvPr/>
        </p:nvSpPr>
        <p:spPr>
          <a:xfrm>
            <a:off x="3319272" y="1408176"/>
            <a:ext cx="457200" cy="320040"/>
          </a:xfrm>
          <a:prstGeom prst="rect">
            <a:avLst/>
          </a:prstGeom>
          <a:noFill/>
          <a:ln/>
        </p:spPr>
        <p:txBody>
          <a:bodyPr wrap="square" lIns="0" tIns="0" rIns="0" bIns="0" rtlCol="0" anchor="ctr"/>
          <a:lstStyle/>
          <a:p>
            <a:pPr indent="0" marL="0">
              <a:buNone/>
            </a:pPr>
            <a:r>
              <a:rPr lang="en-US" sz="1800" b="1" dirty="0">
                <a:solidFill>
                  <a:srgbClr val="FFFFFF"/>
                </a:solidFill>
              </a:rPr>
              <a:t>02</a:t>
            </a:r>
            <a:endParaRPr lang="en-US" sz="1800" dirty="0"/>
          </a:p>
        </p:txBody>
      </p:sp>
      <p:sp>
        <p:nvSpPr>
          <p:cNvPr id="17" name="Text 15"/>
          <p:cNvSpPr/>
          <p:nvPr/>
        </p:nvSpPr>
        <p:spPr>
          <a:xfrm>
            <a:off x="3776472" y="1408176"/>
            <a:ext cx="2011680" cy="256032"/>
          </a:xfrm>
          <a:prstGeom prst="rect">
            <a:avLst/>
          </a:prstGeom>
          <a:noFill/>
          <a:ln/>
        </p:spPr>
        <p:txBody>
          <a:bodyPr wrap="square" lIns="0" tIns="0" rIns="0" bIns="0" rtlCol="0" anchor="ctr"/>
          <a:lstStyle/>
          <a:p>
            <a:pPr indent="0" marL="0">
              <a:buNone/>
            </a:pPr>
            <a:r>
              <a:rPr lang="en-US" sz="1000" b="1" dirty="0">
                <a:solidFill>
                  <a:srgbClr val="FFFFFF"/>
                </a:solidFill>
              </a:rPr>
              <a:t>Decision Tree</a:t>
            </a:r>
            <a:endParaRPr lang="en-US" sz="1000" dirty="0"/>
          </a:p>
        </p:txBody>
      </p:sp>
      <p:sp>
        <p:nvSpPr>
          <p:cNvPr id="18" name="Text 16"/>
          <p:cNvSpPr/>
          <p:nvPr/>
        </p:nvSpPr>
        <p:spPr>
          <a:xfrm>
            <a:off x="3776472" y="1673352"/>
            <a:ext cx="2011680" cy="182880"/>
          </a:xfrm>
          <a:prstGeom prst="rect">
            <a:avLst/>
          </a:prstGeom>
          <a:noFill/>
          <a:ln/>
        </p:spPr>
        <p:txBody>
          <a:bodyPr wrap="square" lIns="0" tIns="0" rIns="0" bIns="0" rtlCol="0" anchor="ctr"/>
          <a:lstStyle/>
          <a:p>
            <a:pPr indent="0" marL="0">
              <a:buNone/>
            </a:pPr>
            <a:r>
              <a:rPr lang="en-US" sz="800" dirty="0">
                <a:solidFill>
                  <a:srgbClr val="FFFFFF"/>
                </a:solidFill>
              </a:rPr>
              <a:t>Interpretable Model</a:t>
            </a:r>
            <a:endParaRPr lang="en-US" sz="800" dirty="0"/>
          </a:p>
        </p:txBody>
      </p:sp>
      <p:sp>
        <p:nvSpPr>
          <p:cNvPr id="19" name="Text 17"/>
          <p:cNvSpPr/>
          <p:nvPr/>
        </p:nvSpPr>
        <p:spPr>
          <a:xfrm>
            <a:off x="3355848" y="2057400"/>
            <a:ext cx="2377440" cy="201168"/>
          </a:xfrm>
          <a:prstGeom prst="rect">
            <a:avLst/>
          </a:prstGeom>
          <a:noFill/>
          <a:ln/>
        </p:spPr>
        <p:txBody>
          <a:bodyPr wrap="square" lIns="0" tIns="0" rIns="0" bIns="0" rtlCol="0" anchor="ctr"/>
          <a:lstStyle/>
          <a:p>
            <a:pPr indent="0" marL="0">
              <a:buNone/>
            </a:pPr>
            <a:r>
              <a:rPr lang="en-US" sz="900" b="1" dirty="0">
                <a:solidFill>
                  <a:srgbClr val="065A82"/>
                </a:solidFill>
              </a:rPr>
              <a:t>Why chosen:</a:t>
            </a:r>
            <a:endParaRPr lang="en-US" sz="900" dirty="0"/>
          </a:p>
        </p:txBody>
      </p:sp>
      <p:sp>
        <p:nvSpPr>
          <p:cNvPr id="20" name="Text 18"/>
          <p:cNvSpPr/>
          <p:nvPr/>
        </p:nvSpPr>
        <p:spPr>
          <a:xfrm>
            <a:off x="3355848" y="2258568"/>
            <a:ext cx="2377440" cy="914400"/>
          </a:xfrm>
          <a:prstGeom prst="rect">
            <a:avLst/>
          </a:prstGeom>
          <a:noFill/>
          <a:ln/>
        </p:spPr>
        <p:txBody>
          <a:bodyPr wrap="square" lIns="0" tIns="0" rIns="0" bIns="0" rtlCol="0" anchor="ctr"/>
          <a:lstStyle/>
          <a:p>
            <a:pPr indent="0" marL="0">
              <a:buNone/>
            </a:pPr>
            <a:r>
              <a:rPr lang="en-US" sz="900" dirty="0">
                <a:solidFill>
                  <a:srgbClr val="2D3748"/>
                </a:solidFill>
              </a:rPr>
              <a:t>Produces human-readable IF/THEN rules. Max-depth tuned using 5-fold cross-validation for best F1 score.</a:t>
            </a:r>
            <a:endParaRPr lang="en-US" sz="900" dirty="0"/>
          </a:p>
        </p:txBody>
      </p:sp>
      <p:sp>
        <p:nvSpPr>
          <p:cNvPr id="21" name="Text 19"/>
          <p:cNvSpPr/>
          <p:nvPr/>
        </p:nvSpPr>
        <p:spPr>
          <a:xfrm>
            <a:off x="3355848" y="3246120"/>
            <a:ext cx="2377440" cy="365760"/>
          </a:xfrm>
          <a:prstGeom prst="rect">
            <a:avLst/>
          </a:prstGeom>
          <a:noFill/>
          <a:ln/>
        </p:spPr>
        <p:txBody>
          <a:bodyPr wrap="square" lIns="0" tIns="0" rIns="0" bIns="0" rtlCol="0" anchor="ctr"/>
          <a:lstStyle/>
          <a:p>
            <a:pPr indent="0" marL="0">
              <a:buNone/>
            </a:pPr>
            <a:r>
              <a:rPr lang="en-US" sz="850" dirty="0">
                <a:solidFill>
                  <a:srgbClr val="1A7A4A"/>
                </a:solidFill>
              </a:rPr>
              <a:t>✓  Rules are easy to explain to any audience</a:t>
            </a:r>
            <a:endParaRPr lang="en-US" sz="850" dirty="0"/>
          </a:p>
        </p:txBody>
      </p:sp>
      <p:sp>
        <p:nvSpPr>
          <p:cNvPr id="22" name="Text 20"/>
          <p:cNvSpPr/>
          <p:nvPr/>
        </p:nvSpPr>
        <p:spPr>
          <a:xfrm>
            <a:off x="3355848" y="3611880"/>
            <a:ext cx="2377440" cy="320040"/>
          </a:xfrm>
          <a:prstGeom prst="rect">
            <a:avLst/>
          </a:prstGeom>
          <a:noFill/>
          <a:ln/>
        </p:spPr>
        <p:txBody>
          <a:bodyPr wrap="square" lIns="0" tIns="0" rIns="0" bIns="0" rtlCol="0" anchor="ctr"/>
          <a:lstStyle/>
          <a:p>
            <a:pPr indent="0" marL="0">
              <a:buNone/>
            </a:pPr>
            <a:r>
              <a:rPr lang="en-US" sz="850" dirty="0">
                <a:solidFill>
                  <a:srgbClr val="C0392B"/>
                </a:solidFill>
              </a:rPr>
              <a:t>✗  Can overfit; less stable than ensemble methods</a:t>
            </a:r>
            <a:endParaRPr lang="en-US" sz="850" dirty="0"/>
          </a:p>
        </p:txBody>
      </p:sp>
      <p:sp>
        <p:nvSpPr>
          <p:cNvPr id="23" name="Shape 21"/>
          <p:cNvSpPr/>
          <p:nvPr/>
        </p:nvSpPr>
        <p:spPr>
          <a:xfrm>
            <a:off x="6035040" y="1371600"/>
            <a:ext cx="2606040" cy="3520440"/>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6035040" y="1371600"/>
            <a:ext cx="2606040" cy="594360"/>
          </a:xfrm>
          <a:prstGeom prst="rect">
            <a:avLst/>
          </a:prstGeom>
          <a:solidFill>
            <a:srgbClr val="C0392B"/>
          </a:solidFill>
          <a:ln w="12700">
            <a:solidFill>
              <a:srgbClr val="C0392B"/>
            </a:solidFill>
            <a:prstDash val="solid"/>
          </a:ln>
        </p:spPr>
      </p:sp>
      <p:sp>
        <p:nvSpPr>
          <p:cNvPr id="25" name="Text 23"/>
          <p:cNvSpPr/>
          <p:nvPr/>
        </p:nvSpPr>
        <p:spPr>
          <a:xfrm>
            <a:off x="6108192" y="1408176"/>
            <a:ext cx="457200" cy="320040"/>
          </a:xfrm>
          <a:prstGeom prst="rect">
            <a:avLst/>
          </a:prstGeom>
          <a:noFill/>
          <a:ln/>
        </p:spPr>
        <p:txBody>
          <a:bodyPr wrap="square" lIns="0" tIns="0" rIns="0" bIns="0" rtlCol="0" anchor="ctr"/>
          <a:lstStyle/>
          <a:p>
            <a:pPr indent="0" marL="0">
              <a:buNone/>
            </a:pPr>
            <a:r>
              <a:rPr lang="en-US" sz="1800" b="1" dirty="0">
                <a:solidFill>
                  <a:srgbClr val="FFFFFF"/>
                </a:solidFill>
              </a:rPr>
              <a:t>03</a:t>
            </a:r>
            <a:endParaRPr lang="en-US" sz="1800" dirty="0"/>
          </a:p>
        </p:txBody>
      </p:sp>
      <p:sp>
        <p:nvSpPr>
          <p:cNvPr id="26" name="Text 24"/>
          <p:cNvSpPr/>
          <p:nvPr/>
        </p:nvSpPr>
        <p:spPr>
          <a:xfrm>
            <a:off x="6565392" y="1408176"/>
            <a:ext cx="2011680" cy="256032"/>
          </a:xfrm>
          <a:prstGeom prst="rect">
            <a:avLst/>
          </a:prstGeom>
          <a:noFill/>
          <a:ln/>
        </p:spPr>
        <p:txBody>
          <a:bodyPr wrap="square" lIns="0" tIns="0" rIns="0" bIns="0" rtlCol="0" anchor="ctr"/>
          <a:lstStyle/>
          <a:p>
            <a:pPr indent="0" marL="0">
              <a:buNone/>
            </a:pPr>
            <a:r>
              <a:rPr lang="en-US" sz="1000" b="1" dirty="0">
                <a:solidFill>
                  <a:srgbClr val="FFFFFF"/>
                </a:solidFill>
              </a:rPr>
              <a:t>Random Forest</a:t>
            </a:r>
            <a:endParaRPr lang="en-US" sz="1000" dirty="0"/>
          </a:p>
        </p:txBody>
      </p:sp>
      <p:sp>
        <p:nvSpPr>
          <p:cNvPr id="27" name="Text 25"/>
          <p:cNvSpPr/>
          <p:nvPr/>
        </p:nvSpPr>
        <p:spPr>
          <a:xfrm>
            <a:off x="6565392" y="1673352"/>
            <a:ext cx="2011680" cy="182880"/>
          </a:xfrm>
          <a:prstGeom prst="rect">
            <a:avLst/>
          </a:prstGeom>
          <a:noFill/>
          <a:ln/>
        </p:spPr>
        <p:txBody>
          <a:bodyPr wrap="square" lIns="0" tIns="0" rIns="0" bIns="0" rtlCol="0" anchor="ctr"/>
          <a:lstStyle/>
          <a:p>
            <a:pPr indent="0" marL="0">
              <a:buNone/>
            </a:pPr>
            <a:r>
              <a:rPr lang="en-US" sz="800" dirty="0">
                <a:solidFill>
                  <a:srgbClr val="FFFFFF"/>
                </a:solidFill>
              </a:rPr>
              <a:t>Final Model ★</a:t>
            </a:r>
            <a:endParaRPr lang="en-US" sz="800" dirty="0"/>
          </a:p>
        </p:txBody>
      </p:sp>
      <p:sp>
        <p:nvSpPr>
          <p:cNvPr id="28" name="Text 26"/>
          <p:cNvSpPr/>
          <p:nvPr/>
        </p:nvSpPr>
        <p:spPr>
          <a:xfrm>
            <a:off x="6144768" y="2057400"/>
            <a:ext cx="2377440" cy="201168"/>
          </a:xfrm>
          <a:prstGeom prst="rect">
            <a:avLst/>
          </a:prstGeom>
          <a:noFill/>
          <a:ln/>
        </p:spPr>
        <p:txBody>
          <a:bodyPr wrap="square" lIns="0" tIns="0" rIns="0" bIns="0" rtlCol="0" anchor="ctr"/>
          <a:lstStyle/>
          <a:p>
            <a:pPr indent="0" marL="0">
              <a:buNone/>
            </a:pPr>
            <a:r>
              <a:rPr lang="en-US" sz="900" b="1" dirty="0">
                <a:solidFill>
                  <a:srgbClr val="065A82"/>
                </a:solidFill>
              </a:rPr>
              <a:t>Why chosen:</a:t>
            </a:r>
            <a:endParaRPr lang="en-US" sz="900" dirty="0"/>
          </a:p>
        </p:txBody>
      </p:sp>
      <p:sp>
        <p:nvSpPr>
          <p:cNvPr id="29" name="Text 27"/>
          <p:cNvSpPr/>
          <p:nvPr/>
        </p:nvSpPr>
        <p:spPr>
          <a:xfrm>
            <a:off x="6144768" y="2258568"/>
            <a:ext cx="2377440" cy="914400"/>
          </a:xfrm>
          <a:prstGeom prst="rect">
            <a:avLst/>
          </a:prstGeom>
          <a:noFill/>
          <a:ln/>
        </p:spPr>
        <p:txBody>
          <a:bodyPr wrap="square" lIns="0" tIns="0" rIns="0" bIns="0" rtlCol="0" anchor="ctr"/>
          <a:lstStyle/>
          <a:p>
            <a:pPr indent="0" marL="0">
              <a:buNone/>
            </a:pPr>
            <a:r>
              <a:rPr lang="en-US" sz="900" dirty="0">
                <a:solidFill>
                  <a:srgbClr val="2D3748"/>
                </a:solidFill>
              </a:rPr>
              <a:t>Ensemble of 100+ decision trees. Captures complex, non-linear interactions between spatial features. Tuned with GridSearchCV.</a:t>
            </a:r>
            <a:endParaRPr lang="en-US" sz="900" dirty="0"/>
          </a:p>
        </p:txBody>
      </p:sp>
      <p:sp>
        <p:nvSpPr>
          <p:cNvPr id="30" name="Text 28"/>
          <p:cNvSpPr/>
          <p:nvPr/>
        </p:nvSpPr>
        <p:spPr>
          <a:xfrm>
            <a:off x="6144768" y="3246120"/>
            <a:ext cx="2377440" cy="365760"/>
          </a:xfrm>
          <a:prstGeom prst="rect">
            <a:avLst/>
          </a:prstGeom>
          <a:noFill/>
          <a:ln/>
        </p:spPr>
        <p:txBody>
          <a:bodyPr wrap="square" lIns="0" tIns="0" rIns="0" bIns="0" rtlCol="0" anchor="ctr"/>
          <a:lstStyle/>
          <a:p>
            <a:pPr indent="0" marL="0">
              <a:buNone/>
            </a:pPr>
            <a:r>
              <a:rPr lang="en-US" sz="850" dirty="0">
                <a:solidFill>
                  <a:srgbClr val="1A7A4A"/>
                </a:solidFill>
              </a:rPr>
              <a:t>✓  Highest AUC, produces probability scores, handles correlated features</a:t>
            </a:r>
            <a:endParaRPr lang="en-US" sz="850" dirty="0"/>
          </a:p>
        </p:txBody>
      </p:sp>
      <p:sp>
        <p:nvSpPr>
          <p:cNvPr id="31" name="Text 29"/>
          <p:cNvSpPr/>
          <p:nvPr/>
        </p:nvSpPr>
        <p:spPr>
          <a:xfrm>
            <a:off x="6144768" y="3611880"/>
            <a:ext cx="2377440" cy="320040"/>
          </a:xfrm>
          <a:prstGeom prst="rect">
            <a:avLst/>
          </a:prstGeom>
          <a:noFill/>
          <a:ln/>
        </p:spPr>
        <p:txBody>
          <a:bodyPr wrap="square" lIns="0" tIns="0" rIns="0" bIns="0" rtlCol="0" anchor="ctr"/>
          <a:lstStyle/>
          <a:p>
            <a:pPr indent="0" marL="0">
              <a:buNone/>
            </a:pPr>
            <a:r>
              <a:rPr lang="en-US" sz="850" dirty="0">
                <a:solidFill>
                  <a:srgbClr val="C0392B"/>
                </a:solidFill>
              </a:rPr>
              <a:t>✗  Less interpretable — addressed with SHAP values</a:t>
            </a:r>
            <a:endParaRPr lang="en-US" sz="850" dirty="0"/>
          </a:p>
        </p:txBody>
      </p:sp>
      <p:sp>
        <p:nvSpPr>
          <p:cNvPr id="32" name="Text 30"/>
          <p:cNvSpPr/>
          <p:nvPr/>
        </p:nvSpPr>
        <p:spPr>
          <a:xfrm>
            <a:off x="457200" y="4892040"/>
            <a:ext cx="8229600" cy="201168"/>
          </a:xfrm>
          <a:prstGeom prst="rect">
            <a:avLst/>
          </a:prstGeom>
          <a:noFill/>
          <a:ln/>
        </p:spPr>
        <p:txBody>
          <a:bodyPr wrap="square" lIns="0" tIns="0" rIns="0" bIns="0" rtlCol="0" anchor="ctr"/>
          <a:lstStyle/>
          <a:p>
            <a:pPr indent="0" marL="0">
              <a:buNone/>
            </a:pPr>
            <a:r>
              <a:rPr lang="en-US" sz="800" dirty="0">
                <a:solidFill>
                  <a:srgbClr val="64748B"/>
                </a:solidFill>
              </a:rPr>
              <a:t>Algorithm selection: scikit-learn (Python)  ·  Cross-validation: StratifiedKFold (5-fold)  ·  Tuning: GridSearchCV</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0D1F2D"/>
                </a:solidFill>
              </a:rPr>
              <a:t>Model 1: Logistic Regression — The Formula</a:t>
            </a:r>
            <a:endParaRPr lang="en-US" sz="2600" dirty="0"/>
          </a:p>
        </p:txBody>
      </p:sp>
      <p:sp>
        <p:nvSpPr>
          <p:cNvPr id="3" name="Shape 1"/>
          <p:cNvSpPr/>
          <p:nvPr/>
        </p:nvSpPr>
        <p:spPr>
          <a:xfrm>
            <a:off x="457200" y="841248"/>
            <a:ext cx="8229600" cy="36576"/>
          </a:xfrm>
          <a:prstGeom prst="rect">
            <a:avLst/>
          </a:prstGeom>
          <a:solidFill>
            <a:srgbClr val="1C7293"/>
          </a:solidFill>
          <a:ln w="12700">
            <a:solidFill>
              <a:srgbClr val="1C7293"/>
            </a:solidFill>
            <a:prstDash val="solid"/>
          </a:ln>
        </p:spPr>
      </p:sp>
      <p:sp>
        <p:nvSpPr>
          <p:cNvPr id="4" name="Shape 2"/>
          <p:cNvSpPr/>
          <p:nvPr/>
        </p:nvSpPr>
        <p:spPr>
          <a:xfrm>
            <a:off x="457200" y="960120"/>
            <a:ext cx="8229600" cy="640080"/>
          </a:xfrm>
          <a:prstGeom prst="rect">
            <a:avLst/>
          </a:prstGeom>
          <a:solidFill>
            <a:srgbClr val="0D1F2D"/>
          </a:solidFill>
          <a:ln w="12700">
            <a:solidFill>
              <a:srgbClr val="0D1F2D"/>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548640" y="1024128"/>
            <a:ext cx="80467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P(hotspot) = 1 / (1 + e^(−z))</a:t>
            </a:r>
            <a:endParaRPr lang="en-US" sz="1600" dirty="0"/>
          </a:p>
        </p:txBody>
      </p:sp>
      <p:pic>
        <p:nvPicPr>
          <p:cNvPr id="6" name="Image 0" descr="/mnt/user-data/uploads/11_lr_coefficients.png">    </p:cNvPr>
          <p:cNvPicPr>
            <a:picLocks noChangeAspect="1"/>
          </p:cNvPicPr>
          <p:nvPr/>
        </p:nvPicPr>
        <p:blipFill>
          <a:blip r:embed="rId1"/>
          <a:stretch>
            <a:fillRect/>
          </a:stretch>
        </p:blipFill>
        <p:spPr>
          <a:xfrm>
            <a:off x="457200" y="1719072"/>
            <a:ext cx="5029200" cy="3108960"/>
          </a:xfrm>
          <a:prstGeom prst="rect">
            <a:avLst/>
          </a:prstGeom>
        </p:spPr>
      </p:pic>
      <p:sp>
        <p:nvSpPr>
          <p:cNvPr id="7" name="Text 4"/>
          <p:cNvSpPr/>
          <p:nvPr/>
        </p:nvSpPr>
        <p:spPr>
          <a:xfrm>
            <a:off x="5669280" y="1719072"/>
            <a:ext cx="3200400" cy="274320"/>
          </a:xfrm>
          <a:prstGeom prst="rect">
            <a:avLst/>
          </a:prstGeom>
          <a:noFill/>
          <a:ln/>
        </p:spPr>
        <p:txBody>
          <a:bodyPr wrap="square" lIns="0" tIns="0" rIns="0" bIns="0" rtlCol="0" anchor="ctr"/>
          <a:lstStyle/>
          <a:p>
            <a:pPr indent="0" marL="0">
              <a:buNone/>
            </a:pPr>
            <a:r>
              <a:rPr lang="en-US" sz="1100" b="1" dirty="0">
                <a:solidFill>
                  <a:srgbClr val="0D1F2D"/>
                </a:solidFill>
              </a:rPr>
              <a:t>Top Coefficients</a:t>
            </a:r>
            <a:endParaRPr lang="en-US" sz="1100" dirty="0"/>
          </a:p>
        </p:txBody>
      </p:sp>
      <p:sp>
        <p:nvSpPr>
          <p:cNvPr id="8" name="Shape 5"/>
          <p:cNvSpPr/>
          <p:nvPr/>
        </p:nvSpPr>
        <p:spPr>
          <a:xfrm>
            <a:off x="5669280" y="2057400"/>
            <a:ext cx="3200400" cy="475488"/>
          </a:xfrm>
          <a:prstGeom prst="rect">
            <a:avLst/>
          </a:prstGeom>
          <a:solidFill>
            <a:srgbClr val="F7F9FA"/>
          </a:solidFill>
          <a:ln w="12700">
            <a:solidFill>
              <a:srgbClr val="E2E8F0"/>
            </a:solidFill>
            <a:prstDash val="solid"/>
          </a:ln>
        </p:spPr>
      </p:sp>
      <p:sp>
        <p:nvSpPr>
          <p:cNvPr id="9" name="Shape 6"/>
          <p:cNvSpPr/>
          <p:nvPr/>
        </p:nvSpPr>
        <p:spPr>
          <a:xfrm>
            <a:off x="5669280" y="2057400"/>
            <a:ext cx="54864" cy="475488"/>
          </a:xfrm>
          <a:prstGeom prst="rect">
            <a:avLst/>
          </a:prstGeom>
          <a:solidFill>
            <a:srgbClr val="1C7293"/>
          </a:solidFill>
          <a:ln w="12700">
            <a:solidFill>
              <a:srgbClr val="1C7293"/>
            </a:solidFill>
            <a:prstDash val="solid"/>
          </a:ln>
        </p:spPr>
      </p:sp>
      <p:sp>
        <p:nvSpPr>
          <p:cNvPr id="10" name="Text 7"/>
          <p:cNvSpPr/>
          <p:nvPr/>
        </p:nvSpPr>
        <p:spPr>
          <a:xfrm>
            <a:off x="5779008" y="2075688"/>
            <a:ext cx="3017520" cy="201168"/>
          </a:xfrm>
          <a:prstGeom prst="rect">
            <a:avLst/>
          </a:prstGeom>
          <a:noFill/>
          <a:ln/>
        </p:spPr>
        <p:txBody>
          <a:bodyPr wrap="square" lIns="0" tIns="0" rIns="0" bIns="0" rtlCol="0" anchor="ctr"/>
          <a:lstStyle/>
          <a:p>
            <a:pPr indent="0" marL="0">
              <a:buNone/>
            </a:pPr>
            <a:r>
              <a:rPr lang="en-US" sz="850" b="1" dirty="0">
                <a:solidFill>
                  <a:srgbClr val="0D1F2D"/>
                </a:solidFill>
                <a:latin typeface="Consolas" pitchFamily="34" charset="0"/>
                <a:ea typeface="Consolas" pitchFamily="34" charset="-122"/>
                <a:cs typeface="Consolas" pitchFamily="34" charset="-120"/>
              </a:rPr>
              <a:t>+3.006  past_vehicle_crime_count</a:t>
            </a:r>
            <a:endParaRPr lang="en-US" sz="850" dirty="0"/>
          </a:p>
        </p:txBody>
      </p:sp>
      <p:sp>
        <p:nvSpPr>
          <p:cNvPr id="11" name="Text 8"/>
          <p:cNvSpPr/>
          <p:nvPr/>
        </p:nvSpPr>
        <p:spPr>
          <a:xfrm>
            <a:off x="5779008" y="2295144"/>
            <a:ext cx="3017520" cy="201168"/>
          </a:xfrm>
          <a:prstGeom prst="rect">
            <a:avLst/>
          </a:prstGeom>
          <a:noFill/>
          <a:ln/>
        </p:spPr>
        <p:txBody>
          <a:bodyPr wrap="square" lIns="0" tIns="0" rIns="0" bIns="0" rtlCol="0" anchor="ctr"/>
          <a:lstStyle/>
          <a:p>
            <a:pPr indent="0" marL="0">
              <a:buNone/>
            </a:pPr>
            <a:r>
              <a:rPr lang="en-US" sz="750" dirty="0">
                <a:solidFill>
                  <a:srgbClr val="2D3748"/>
                </a:solidFill>
              </a:rPr>
              <a:t>Strongest predictor — past crime is the biggest driver of future risk</a:t>
            </a:r>
            <a:endParaRPr lang="en-US" sz="750" dirty="0"/>
          </a:p>
        </p:txBody>
      </p:sp>
      <p:sp>
        <p:nvSpPr>
          <p:cNvPr id="12" name="Shape 9"/>
          <p:cNvSpPr/>
          <p:nvPr/>
        </p:nvSpPr>
        <p:spPr>
          <a:xfrm>
            <a:off x="5669280" y="2606040"/>
            <a:ext cx="3200400" cy="475488"/>
          </a:xfrm>
          <a:prstGeom prst="rect">
            <a:avLst/>
          </a:prstGeom>
          <a:solidFill>
            <a:srgbClr val="F7F9FA"/>
          </a:solidFill>
          <a:ln w="12700">
            <a:solidFill>
              <a:srgbClr val="E2E8F0"/>
            </a:solidFill>
            <a:prstDash val="solid"/>
          </a:ln>
        </p:spPr>
      </p:sp>
      <p:sp>
        <p:nvSpPr>
          <p:cNvPr id="13" name="Shape 10"/>
          <p:cNvSpPr/>
          <p:nvPr/>
        </p:nvSpPr>
        <p:spPr>
          <a:xfrm>
            <a:off x="5669280" y="2606040"/>
            <a:ext cx="54864" cy="475488"/>
          </a:xfrm>
          <a:prstGeom prst="rect">
            <a:avLst/>
          </a:prstGeom>
          <a:solidFill>
            <a:srgbClr val="1C7293"/>
          </a:solidFill>
          <a:ln w="12700">
            <a:solidFill>
              <a:srgbClr val="1C7293"/>
            </a:solidFill>
            <a:prstDash val="solid"/>
          </a:ln>
        </p:spPr>
      </p:sp>
      <p:sp>
        <p:nvSpPr>
          <p:cNvPr id="14" name="Text 11"/>
          <p:cNvSpPr/>
          <p:nvPr/>
        </p:nvSpPr>
        <p:spPr>
          <a:xfrm>
            <a:off x="5779008" y="2624328"/>
            <a:ext cx="3017520" cy="201168"/>
          </a:xfrm>
          <a:prstGeom prst="rect">
            <a:avLst/>
          </a:prstGeom>
          <a:noFill/>
          <a:ln/>
        </p:spPr>
        <p:txBody>
          <a:bodyPr wrap="square" lIns="0" tIns="0" rIns="0" bIns="0" rtlCol="0" anchor="ctr"/>
          <a:lstStyle/>
          <a:p>
            <a:pPr indent="0" marL="0">
              <a:buNone/>
            </a:pPr>
            <a:r>
              <a:rPr lang="en-US" sz="850" b="1" dirty="0">
                <a:solidFill>
                  <a:srgbClr val="0D1F2D"/>
                </a:solidFill>
                <a:latin typeface="Consolas" pitchFamily="34" charset="0"/>
                <a:ea typeface="Consolas" pitchFamily="34" charset="-122"/>
                <a:cs typeface="Consolas" pitchFamily="34" charset="-120"/>
              </a:rPr>
              <a:t>+0.415  population_density</a:t>
            </a:r>
            <a:endParaRPr lang="en-US" sz="850" dirty="0"/>
          </a:p>
        </p:txBody>
      </p:sp>
      <p:sp>
        <p:nvSpPr>
          <p:cNvPr id="15" name="Text 12"/>
          <p:cNvSpPr/>
          <p:nvPr/>
        </p:nvSpPr>
        <p:spPr>
          <a:xfrm>
            <a:off x="5779008" y="2843784"/>
            <a:ext cx="3017520" cy="201168"/>
          </a:xfrm>
          <a:prstGeom prst="rect">
            <a:avLst/>
          </a:prstGeom>
          <a:noFill/>
          <a:ln/>
        </p:spPr>
        <p:txBody>
          <a:bodyPr wrap="square" lIns="0" tIns="0" rIns="0" bIns="0" rtlCol="0" anchor="ctr"/>
          <a:lstStyle/>
          <a:p>
            <a:pPr indent="0" marL="0">
              <a:buNone/>
            </a:pPr>
            <a:r>
              <a:rPr lang="en-US" sz="750" dirty="0">
                <a:solidFill>
                  <a:srgbClr val="2D3748"/>
                </a:solidFill>
              </a:rPr>
              <a:t>Denser areas have more vehicles and targets</a:t>
            </a:r>
            <a:endParaRPr lang="en-US" sz="750" dirty="0"/>
          </a:p>
        </p:txBody>
      </p:sp>
      <p:sp>
        <p:nvSpPr>
          <p:cNvPr id="16" name="Shape 13"/>
          <p:cNvSpPr/>
          <p:nvPr/>
        </p:nvSpPr>
        <p:spPr>
          <a:xfrm>
            <a:off x="5669280" y="3154680"/>
            <a:ext cx="3200400" cy="475488"/>
          </a:xfrm>
          <a:prstGeom prst="rect">
            <a:avLst/>
          </a:prstGeom>
          <a:solidFill>
            <a:srgbClr val="F7F9FA"/>
          </a:solidFill>
          <a:ln w="12700">
            <a:solidFill>
              <a:srgbClr val="E2E8F0"/>
            </a:solidFill>
            <a:prstDash val="solid"/>
          </a:ln>
        </p:spPr>
      </p:sp>
      <p:sp>
        <p:nvSpPr>
          <p:cNvPr id="17" name="Shape 14"/>
          <p:cNvSpPr/>
          <p:nvPr/>
        </p:nvSpPr>
        <p:spPr>
          <a:xfrm>
            <a:off x="5669280" y="3154680"/>
            <a:ext cx="54864" cy="475488"/>
          </a:xfrm>
          <a:prstGeom prst="rect">
            <a:avLst/>
          </a:prstGeom>
          <a:solidFill>
            <a:srgbClr val="1C7293"/>
          </a:solidFill>
          <a:ln w="12700">
            <a:solidFill>
              <a:srgbClr val="1C7293"/>
            </a:solidFill>
            <a:prstDash val="solid"/>
          </a:ln>
        </p:spPr>
      </p:sp>
      <p:sp>
        <p:nvSpPr>
          <p:cNvPr id="18" name="Text 15"/>
          <p:cNvSpPr/>
          <p:nvPr/>
        </p:nvSpPr>
        <p:spPr>
          <a:xfrm>
            <a:off x="5779008" y="3172968"/>
            <a:ext cx="3017520" cy="201168"/>
          </a:xfrm>
          <a:prstGeom prst="rect">
            <a:avLst/>
          </a:prstGeom>
          <a:noFill/>
          <a:ln/>
        </p:spPr>
        <p:txBody>
          <a:bodyPr wrap="square" lIns="0" tIns="0" rIns="0" bIns="0" rtlCol="0" anchor="ctr"/>
          <a:lstStyle/>
          <a:p>
            <a:pPr indent="0" marL="0">
              <a:buNone/>
            </a:pPr>
            <a:r>
              <a:rPr lang="en-US" sz="850" b="1" dirty="0">
                <a:solidFill>
                  <a:srgbClr val="0D1F2D"/>
                </a:solidFill>
                <a:latin typeface="Consolas" pitchFamily="34" charset="0"/>
                <a:ea typeface="Consolas" pitchFamily="34" charset="-122"/>
                <a:cs typeface="Consolas" pitchFamily="34" charset="-120"/>
              </a:rPr>
              <a:t>+0.395  road_density</a:t>
            </a:r>
            <a:endParaRPr lang="en-US" sz="850" dirty="0"/>
          </a:p>
        </p:txBody>
      </p:sp>
      <p:sp>
        <p:nvSpPr>
          <p:cNvPr id="19" name="Text 16"/>
          <p:cNvSpPr/>
          <p:nvPr/>
        </p:nvSpPr>
        <p:spPr>
          <a:xfrm>
            <a:off x="5779008" y="3392424"/>
            <a:ext cx="3017520" cy="201168"/>
          </a:xfrm>
          <a:prstGeom prst="rect">
            <a:avLst/>
          </a:prstGeom>
          <a:noFill/>
          <a:ln/>
        </p:spPr>
        <p:txBody>
          <a:bodyPr wrap="square" lIns="0" tIns="0" rIns="0" bIns="0" rtlCol="0" anchor="ctr"/>
          <a:lstStyle/>
          <a:p>
            <a:pPr indent="0" marL="0">
              <a:buNone/>
            </a:pPr>
            <a:r>
              <a:rPr lang="en-US" sz="750" dirty="0">
                <a:solidFill>
                  <a:srgbClr val="2D3748"/>
                </a:solidFill>
              </a:rPr>
              <a:t>More roads = more vehicle movement and opportunity</a:t>
            </a:r>
            <a:endParaRPr lang="en-US" sz="750" dirty="0"/>
          </a:p>
        </p:txBody>
      </p:sp>
      <p:sp>
        <p:nvSpPr>
          <p:cNvPr id="20" name="Shape 17"/>
          <p:cNvSpPr/>
          <p:nvPr/>
        </p:nvSpPr>
        <p:spPr>
          <a:xfrm>
            <a:off x="5669280" y="3703320"/>
            <a:ext cx="3200400" cy="475488"/>
          </a:xfrm>
          <a:prstGeom prst="rect">
            <a:avLst/>
          </a:prstGeom>
          <a:solidFill>
            <a:srgbClr val="F7F9FA"/>
          </a:solidFill>
          <a:ln w="12700">
            <a:solidFill>
              <a:srgbClr val="E2E8F0"/>
            </a:solidFill>
            <a:prstDash val="solid"/>
          </a:ln>
        </p:spPr>
      </p:sp>
      <p:sp>
        <p:nvSpPr>
          <p:cNvPr id="21" name="Shape 18"/>
          <p:cNvSpPr/>
          <p:nvPr/>
        </p:nvSpPr>
        <p:spPr>
          <a:xfrm>
            <a:off x="5669280" y="3703320"/>
            <a:ext cx="54864" cy="475488"/>
          </a:xfrm>
          <a:prstGeom prst="rect">
            <a:avLst/>
          </a:prstGeom>
          <a:solidFill>
            <a:srgbClr val="1C7293"/>
          </a:solidFill>
          <a:ln w="12700">
            <a:solidFill>
              <a:srgbClr val="1C7293"/>
            </a:solidFill>
            <a:prstDash val="solid"/>
          </a:ln>
        </p:spPr>
      </p:sp>
      <p:sp>
        <p:nvSpPr>
          <p:cNvPr id="22" name="Text 19"/>
          <p:cNvSpPr/>
          <p:nvPr/>
        </p:nvSpPr>
        <p:spPr>
          <a:xfrm>
            <a:off x="5779008" y="3721608"/>
            <a:ext cx="3017520" cy="201168"/>
          </a:xfrm>
          <a:prstGeom prst="rect">
            <a:avLst/>
          </a:prstGeom>
          <a:noFill/>
          <a:ln/>
        </p:spPr>
        <p:txBody>
          <a:bodyPr wrap="square" lIns="0" tIns="0" rIns="0" bIns="0" rtlCol="0" anchor="ctr"/>
          <a:lstStyle/>
          <a:p>
            <a:pPr indent="0" marL="0">
              <a:buNone/>
            </a:pPr>
            <a:r>
              <a:rPr lang="en-US" sz="850" b="1" dirty="0">
                <a:solidFill>
                  <a:srgbClr val="0D1F2D"/>
                </a:solidFill>
                <a:latin typeface="Consolas" pitchFamily="34" charset="0"/>
                <a:ea typeface="Consolas" pitchFamily="34" charset="-122"/>
                <a:cs typeface="Consolas" pitchFamily="34" charset="-120"/>
              </a:rPr>
              <a:t>+0.309  transit_stop_count</a:t>
            </a:r>
            <a:endParaRPr lang="en-US" sz="850" dirty="0"/>
          </a:p>
        </p:txBody>
      </p:sp>
      <p:sp>
        <p:nvSpPr>
          <p:cNvPr id="23" name="Text 20"/>
          <p:cNvSpPr/>
          <p:nvPr/>
        </p:nvSpPr>
        <p:spPr>
          <a:xfrm>
            <a:off x="5779008" y="3941064"/>
            <a:ext cx="3017520" cy="201168"/>
          </a:xfrm>
          <a:prstGeom prst="rect">
            <a:avLst/>
          </a:prstGeom>
          <a:noFill/>
          <a:ln/>
        </p:spPr>
        <p:txBody>
          <a:bodyPr wrap="square" lIns="0" tIns="0" rIns="0" bIns="0" rtlCol="0" anchor="ctr"/>
          <a:lstStyle/>
          <a:p>
            <a:pPr indent="0" marL="0">
              <a:buNone/>
            </a:pPr>
            <a:r>
              <a:rPr lang="en-US" sz="750" dirty="0">
                <a:solidFill>
                  <a:srgbClr val="2D3748"/>
                </a:solidFill>
              </a:rPr>
              <a:t>High foot traffic areas attract vehicle crime</a:t>
            </a:r>
            <a:endParaRPr lang="en-US" sz="750" dirty="0"/>
          </a:p>
        </p:txBody>
      </p:sp>
      <p:sp>
        <p:nvSpPr>
          <p:cNvPr id="24" name="Shape 21"/>
          <p:cNvSpPr/>
          <p:nvPr/>
        </p:nvSpPr>
        <p:spPr>
          <a:xfrm>
            <a:off x="5669280" y="4251960"/>
            <a:ext cx="3200400" cy="475488"/>
          </a:xfrm>
          <a:prstGeom prst="rect">
            <a:avLst/>
          </a:prstGeom>
          <a:solidFill>
            <a:srgbClr val="F7F9FA"/>
          </a:solidFill>
          <a:ln w="12700">
            <a:solidFill>
              <a:srgbClr val="E2E8F0"/>
            </a:solidFill>
            <a:prstDash val="solid"/>
          </a:ln>
        </p:spPr>
      </p:sp>
      <p:sp>
        <p:nvSpPr>
          <p:cNvPr id="25" name="Shape 22"/>
          <p:cNvSpPr/>
          <p:nvPr/>
        </p:nvSpPr>
        <p:spPr>
          <a:xfrm>
            <a:off x="5669280" y="4251960"/>
            <a:ext cx="54864" cy="475488"/>
          </a:xfrm>
          <a:prstGeom prst="rect">
            <a:avLst/>
          </a:prstGeom>
          <a:solidFill>
            <a:srgbClr val="C0392B"/>
          </a:solidFill>
          <a:ln w="12700">
            <a:solidFill>
              <a:srgbClr val="C0392B"/>
            </a:solidFill>
            <a:prstDash val="solid"/>
          </a:ln>
        </p:spPr>
      </p:sp>
      <p:sp>
        <p:nvSpPr>
          <p:cNvPr id="26" name="Text 23"/>
          <p:cNvSpPr/>
          <p:nvPr/>
        </p:nvSpPr>
        <p:spPr>
          <a:xfrm>
            <a:off x="5779008" y="4270248"/>
            <a:ext cx="3017520" cy="201168"/>
          </a:xfrm>
          <a:prstGeom prst="rect">
            <a:avLst/>
          </a:prstGeom>
          <a:noFill/>
          <a:ln/>
        </p:spPr>
        <p:txBody>
          <a:bodyPr wrap="square" lIns="0" tIns="0" rIns="0" bIns="0" rtlCol="0" anchor="ctr"/>
          <a:lstStyle/>
          <a:p>
            <a:pPr indent="0" marL="0">
              <a:buNone/>
            </a:pPr>
            <a:r>
              <a:rPr lang="en-US" sz="850" b="1" dirty="0">
                <a:solidFill>
                  <a:srgbClr val="0D1F2D"/>
                </a:solidFill>
                <a:latin typeface="Consolas" pitchFamily="34" charset="0"/>
                <a:ea typeface="Consolas" pitchFamily="34" charset="-122"/>
                <a:cs typeface="Consolas" pitchFamily="34" charset="-120"/>
              </a:rPr>
              <a:t>−0.335  shopping_count</a:t>
            </a:r>
            <a:endParaRPr lang="en-US" sz="850" dirty="0"/>
          </a:p>
        </p:txBody>
      </p:sp>
      <p:sp>
        <p:nvSpPr>
          <p:cNvPr id="27" name="Text 24"/>
          <p:cNvSpPr/>
          <p:nvPr/>
        </p:nvSpPr>
        <p:spPr>
          <a:xfrm>
            <a:off x="5779008" y="4489704"/>
            <a:ext cx="3017520" cy="201168"/>
          </a:xfrm>
          <a:prstGeom prst="rect">
            <a:avLst/>
          </a:prstGeom>
          <a:noFill/>
          <a:ln/>
        </p:spPr>
        <p:txBody>
          <a:bodyPr wrap="square" lIns="0" tIns="0" rIns="0" bIns="0" rtlCol="0" anchor="ctr"/>
          <a:lstStyle/>
          <a:p>
            <a:pPr indent="0" marL="0">
              <a:buNone/>
            </a:pPr>
            <a:r>
              <a:rPr lang="en-US" sz="750" dirty="0">
                <a:solidFill>
                  <a:srgbClr val="2D3748"/>
                </a:solidFill>
              </a:rPr>
              <a:t>Negative — may reflect well-monitored commercial areas</a:t>
            </a:r>
            <a:endParaRPr lang="en-US" sz="750" dirty="0"/>
          </a:p>
        </p:txBody>
      </p:sp>
      <p:sp>
        <p:nvSpPr>
          <p:cNvPr id="28" name="Text 25"/>
          <p:cNvSpPr/>
          <p:nvPr/>
        </p:nvSpPr>
        <p:spPr>
          <a:xfrm>
            <a:off x="457200" y="4892040"/>
            <a:ext cx="8229600" cy="201168"/>
          </a:xfrm>
          <a:prstGeom prst="rect">
            <a:avLst/>
          </a:prstGeom>
          <a:noFill/>
          <a:ln/>
        </p:spPr>
        <p:txBody>
          <a:bodyPr wrap="square" lIns="0" tIns="0" rIns="0" bIns="0" rtlCol="0" anchor="ctr"/>
          <a:lstStyle/>
          <a:p>
            <a:pPr indent="0" marL="0">
              <a:buNone/>
            </a:pPr>
            <a:r>
              <a:rPr lang="en-US" sz="800" dirty="0">
                <a:solidFill>
                  <a:srgbClr val="64748B"/>
                </a:solidFill>
              </a:rPr>
              <a:t>Intercept: −1.118  ·  Model: scikit-learn LogisticRegression, class_weight='balanced', max_iter=1000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0D1F2D"/>
                </a:solidFill>
              </a:rPr>
              <a:t>Model 2: Decision Tree — IF/THEN Rules</a:t>
            </a:r>
            <a:endParaRPr lang="en-US" sz="2600" dirty="0"/>
          </a:p>
        </p:txBody>
      </p:sp>
      <p:sp>
        <p:nvSpPr>
          <p:cNvPr id="3" name="Shape 1"/>
          <p:cNvSpPr/>
          <p:nvPr/>
        </p:nvSpPr>
        <p:spPr>
          <a:xfrm>
            <a:off x="457200" y="841248"/>
            <a:ext cx="8229600" cy="36576"/>
          </a:xfrm>
          <a:prstGeom prst="rect">
            <a:avLst/>
          </a:prstGeom>
          <a:solidFill>
            <a:srgbClr val="065A82"/>
          </a:solidFill>
          <a:ln w="12700">
            <a:solidFill>
              <a:srgbClr val="065A82"/>
            </a:solidFill>
            <a:prstDash val="solid"/>
          </a:ln>
        </p:spPr>
      </p:sp>
      <p:pic>
        <p:nvPicPr>
          <p:cNvPr id="4" name="Image 0" descr="/mnt/user-data/uploads/13_decision_tree_plot.png">    </p:cNvPr>
          <p:cNvPicPr>
            <a:picLocks noChangeAspect="1"/>
          </p:cNvPicPr>
          <p:nvPr/>
        </p:nvPicPr>
        <p:blipFill>
          <a:blip r:embed="rId1"/>
          <a:stretch>
            <a:fillRect/>
          </a:stretch>
        </p:blipFill>
        <p:spPr>
          <a:xfrm>
            <a:off x="457200" y="960120"/>
            <a:ext cx="5943600" cy="3566160"/>
          </a:xfrm>
          <a:prstGeom prst="rect">
            <a:avLst/>
          </a:prstGeom>
        </p:spPr>
      </p:pic>
      <p:sp>
        <p:nvSpPr>
          <p:cNvPr id="5" name="Shape 2"/>
          <p:cNvSpPr/>
          <p:nvPr/>
        </p:nvSpPr>
        <p:spPr>
          <a:xfrm>
            <a:off x="6583680" y="960120"/>
            <a:ext cx="2286000" cy="411480"/>
          </a:xfrm>
          <a:prstGeom prst="rect">
            <a:avLst/>
          </a:prstGeom>
          <a:solidFill>
            <a:srgbClr val="065A82"/>
          </a:solidFill>
          <a:ln w="12700">
            <a:solidFill>
              <a:srgbClr val="065A82"/>
            </a:solidFill>
            <a:prstDash val="solid"/>
          </a:ln>
        </p:spPr>
      </p:sp>
      <p:sp>
        <p:nvSpPr>
          <p:cNvPr id="6" name="Text 3"/>
          <p:cNvSpPr/>
          <p:nvPr/>
        </p:nvSpPr>
        <p:spPr>
          <a:xfrm>
            <a:off x="6629400" y="1005840"/>
            <a:ext cx="2194560" cy="292608"/>
          </a:xfrm>
          <a:prstGeom prst="rect">
            <a:avLst/>
          </a:prstGeom>
          <a:noFill/>
          <a:ln/>
        </p:spPr>
        <p:txBody>
          <a:bodyPr wrap="square" lIns="0" tIns="0" rIns="0" bIns="0" rtlCol="0" anchor="ctr"/>
          <a:lstStyle/>
          <a:p>
            <a:pPr indent="0" marL="0">
              <a:buNone/>
            </a:pPr>
            <a:r>
              <a:rPr lang="en-US" sz="1000" b="1" dirty="0">
                <a:solidFill>
                  <a:srgbClr val="FFFFFF"/>
                </a:solidFill>
              </a:rPr>
              <a:t>Key Decision Rules</a:t>
            </a:r>
            <a:endParaRPr lang="en-US" sz="1000" dirty="0"/>
          </a:p>
        </p:txBody>
      </p:sp>
      <p:sp>
        <p:nvSpPr>
          <p:cNvPr id="7" name="Shape 4"/>
          <p:cNvSpPr/>
          <p:nvPr/>
        </p:nvSpPr>
        <p:spPr>
          <a:xfrm>
            <a:off x="6583680" y="1444752"/>
            <a:ext cx="2286000" cy="685800"/>
          </a:xfrm>
          <a:prstGeom prst="rect">
            <a:avLst/>
          </a:prstGeom>
          <a:solidFill>
            <a:srgbClr val="F7F9FA"/>
          </a:solidFill>
          <a:ln w="12700">
            <a:solidFill>
              <a:srgbClr val="E2E8F0"/>
            </a:solidFill>
            <a:prstDash val="solid"/>
          </a:ln>
        </p:spPr>
      </p:sp>
      <p:sp>
        <p:nvSpPr>
          <p:cNvPr id="8" name="Shape 5"/>
          <p:cNvSpPr/>
          <p:nvPr/>
        </p:nvSpPr>
        <p:spPr>
          <a:xfrm>
            <a:off x="6583680" y="1444752"/>
            <a:ext cx="54864" cy="685800"/>
          </a:xfrm>
          <a:prstGeom prst="rect">
            <a:avLst/>
          </a:prstGeom>
          <a:solidFill>
            <a:srgbClr val="C0392B"/>
          </a:solidFill>
          <a:ln w="12700">
            <a:solidFill>
              <a:srgbClr val="C0392B"/>
            </a:solidFill>
            <a:prstDash val="solid"/>
          </a:ln>
        </p:spPr>
      </p:sp>
      <p:sp>
        <p:nvSpPr>
          <p:cNvPr id="9" name="Text 6"/>
          <p:cNvSpPr/>
          <p:nvPr/>
        </p:nvSpPr>
        <p:spPr>
          <a:xfrm>
            <a:off x="6693408" y="1499616"/>
            <a:ext cx="2103120" cy="594360"/>
          </a:xfrm>
          <a:prstGeom prst="rect">
            <a:avLst/>
          </a:prstGeom>
          <a:noFill/>
          <a:ln/>
        </p:spPr>
        <p:txBody>
          <a:bodyPr wrap="square" lIns="0" tIns="0" rIns="0" bIns="0" rtlCol="0" anchor="ctr"/>
          <a:lstStyle/>
          <a:p>
            <a:pPr indent="0" marL="0">
              <a:buNone/>
            </a:pPr>
            <a:r>
              <a:rPr lang="en-US" sz="850" dirty="0">
                <a:solidFill>
                  <a:srgbClr val="2D3748"/>
                </a:solidFill>
              </a:rPr>
              <a:t>If past crimes &gt; 50</a:t>
            </a:r>
            <a:endParaRPr lang="en-US" sz="850" dirty="0"/>
          </a:p>
          <a:p>
            <a:pPr indent="0" marL="0">
              <a:buNone/>
            </a:pPr>
            <a:r>
              <a:rPr lang="en-US" sz="850" dirty="0">
                <a:solidFill>
                  <a:srgbClr val="2D3748"/>
                </a:solidFill>
              </a:rPr>
              <a:t>→ Almost always HOTSPOT</a:t>
            </a:r>
            <a:endParaRPr lang="en-US" sz="850" dirty="0"/>
          </a:p>
        </p:txBody>
      </p:sp>
      <p:sp>
        <p:nvSpPr>
          <p:cNvPr id="10" name="Shape 7"/>
          <p:cNvSpPr/>
          <p:nvPr/>
        </p:nvSpPr>
        <p:spPr>
          <a:xfrm>
            <a:off x="6583680" y="2221992"/>
            <a:ext cx="2286000" cy="685800"/>
          </a:xfrm>
          <a:prstGeom prst="rect">
            <a:avLst/>
          </a:prstGeom>
          <a:solidFill>
            <a:srgbClr val="F7F9FA"/>
          </a:solidFill>
          <a:ln w="12700">
            <a:solidFill>
              <a:srgbClr val="E2E8F0"/>
            </a:solidFill>
            <a:prstDash val="solid"/>
          </a:ln>
        </p:spPr>
      </p:sp>
      <p:sp>
        <p:nvSpPr>
          <p:cNvPr id="11" name="Shape 8"/>
          <p:cNvSpPr/>
          <p:nvPr/>
        </p:nvSpPr>
        <p:spPr>
          <a:xfrm>
            <a:off x="6583680" y="2221992"/>
            <a:ext cx="54864" cy="685800"/>
          </a:xfrm>
          <a:prstGeom prst="rect">
            <a:avLst/>
          </a:prstGeom>
          <a:solidFill>
            <a:srgbClr val="C0392B"/>
          </a:solidFill>
          <a:ln w="12700">
            <a:solidFill>
              <a:srgbClr val="C0392B"/>
            </a:solidFill>
            <a:prstDash val="solid"/>
          </a:ln>
        </p:spPr>
      </p:sp>
      <p:sp>
        <p:nvSpPr>
          <p:cNvPr id="12" name="Text 9"/>
          <p:cNvSpPr/>
          <p:nvPr/>
        </p:nvSpPr>
        <p:spPr>
          <a:xfrm>
            <a:off x="6693408" y="2276856"/>
            <a:ext cx="2103120" cy="594360"/>
          </a:xfrm>
          <a:prstGeom prst="rect">
            <a:avLst/>
          </a:prstGeom>
          <a:noFill/>
          <a:ln/>
        </p:spPr>
        <p:txBody>
          <a:bodyPr wrap="square" lIns="0" tIns="0" rIns="0" bIns="0" rtlCol="0" anchor="ctr"/>
          <a:lstStyle/>
          <a:p>
            <a:pPr indent="0" marL="0">
              <a:buNone/>
            </a:pPr>
            <a:r>
              <a:rPr lang="en-US" sz="850" dirty="0">
                <a:solidFill>
                  <a:srgbClr val="2D3748"/>
                </a:solidFill>
              </a:rPr>
              <a:t>If past crimes 27–50</a:t>
            </a:r>
            <a:endParaRPr lang="en-US" sz="850" dirty="0"/>
          </a:p>
          <a:p>
            <a:pPr indent="0" marL="0">
              <a:buNone/>
            </a:pPr>
            <a:r>
              <a:rPr lang="en-US" sz="850" dirty="0">
                <a:solidFill>
                  <a:srgbClr val="2D3748"/>
                </a:solidFill>
              </a:rPr>
              <a:t>AND east of city center</a:t>
            </a:r>
            <a:endParaRPr lang="en-US" sz="850" dirty="0"/>
          </a:p>
          <a:p>
            <a:pPr indent="0" marL="0">
              <a:buNone/>
            </a:pPr>
            <a:r>
              <a:rPr lang="en-US" sz="850" dirty="0">
                <a:solidFill>
                  <a:srgbClr val="2D3748"/>
                </a:solidFill>
              </a:rPr>
              <a:t>→ HOTSPOT</a:t>
            </a:r>
            <a:endParaRPr lang="en-US" sz="850" dirty="0"/>
          </a:p>
        </p:txBody>
      </p:sp>
      <p:sp>
        <p:nvSpPr>
          <p:cNvPr id="13" name="Shape 10"/>
          <p:cNvSpPr/>
          <p:nvPr/>
        </p:nvSpPr>
        <p:spPr>
          <a:xfrm>
            <a:off x="6583680" y="2999232"/>
            <a:ext cx="2286000" cy="685800"/>
          </a:xfrm>
          <a:prstGeom prst="rect">
            <a:avLst/>
          </a:prstGeom>
          <a:solidFill>
            <a:srgbClr val="F7F9FA"/>
          </a:solidFill>
          <a:ln w="12700">
            <a:solidFill>
              <a:srgbClr val="E2E8F0"/>
            </a:solidFill>
            <a:prstDash val="solid"/>
          </a:ln>
        </p:spPr>
      </p:sp>
      <p:sp>
        <p:nvSpPr>
          <p:cNvPr id="14" name="Shape 11"/>
          <p:cNvSpPr/>
          <p:nvPr/>
        </p:nvSpPr>
        <p:spPr>
          <a:xfrm>
            <a:off x="6583680" y="2999232"/>
            <a:ext cx="54864" cy="685800"/>
          </a:xfrm>
          <a:prstGeom prst="rect">
            <a:avLst/>
          </a:prstGeom>
          <a:solidFill>
            <a:srgbClr val="E67E22"/>
          </a:solidFill>
          <a:ln w="12700">
            <a:solidFill>
              <a:srgbClr val="E67E22"/>
            </a:solidFill>
            <a:prstDash val="solid"/>
          </a:ln>
        </p:spPr>
      </p:sp>
      <p:sp>
        <p:nvSpPr>
          <p:cNvPr id="15" name="Text 12"/>
          <p:cNvSpPr/>
          <p:nvPr/>
        </p:nvSpPr>
        <p:spPr>
          <a:xfrm>
            <a:off x="6693408" y="3054096"/>
            <a:ext cx="2103120" cy="594360"/>
          </a:xfrm>
          <a:prstGeom prst="rect">
            <a:avLst/>
          </a:prstGeom>
          <a:noFill/>
          <a:ln/>
        </p:spPr>
        <p:txBody>
          <a:bodyPr wrap="square" lIns="0" tIns="0" rIns="0" bIns="0" rtlCol="0" anchor="ctr"/>
          <a:lstStyle/>
          <a:p>
            <a:pPr indent="0" marL="0">
              <a:buNone/>
            </a:pPr>
            <a:r>
              <a:rPr lang="en-US" sz="850" dirty="0">
                <a:solidFill>
                  <a:srgbClr val="2D3748"/>
                </a:solidFill>
              </a:rPr>
              <a:t>If past crimes &lt; 27</a:t>
            </a:r>
            <a:endParaRPr lang="en-US" sz="850" dirty="0"/>
          </a:p>
          <a:p>
            <a:pPr indent="0" marL="0">
              <a:buNone/>
            </a:pPr>
            <a:r>
              <a:rPr lang="en-US" sz="850" dirty="0">
                <a:solidFill>
                  <a:srgbClr val="2D3748"/>
                </a:solidFill>
              </a:rPr>
              <a:t>AND transit stops &gt; 7</a:t>
            </a:r>
            <a:endParaRPr lang="en-US" sz="850" dirty="0"/>
          </a:p>
          <a:p>
            <a:pPr indent="0" marL="0">
              <a:buNone/>
            </a:pPr>
            <a:r>
              <a:rPr lang="en-US" sz="850" dirty="0">
                <a:solidFill>
                  <a:srgbClr val="2D3748"/>
                </a:solidFill>
              </a:rPr>
              <a:t>→ HOTSPOT</a:t>
            </a:r>
            <a:endParaRPr lang="en-US" sz="850" dirty="0"/>
          </a:p>
        </p:txBody>
      </p:sp>
      <p:sp>
        <p:nvSpPr>
          <p:cNvPr id="16" name="Shape 13"/>
          <p:cNvSpPr/>
          <p:nvPr/>
        </p:nvSpPr>
        <p:spPr>
          <a:xfrm>
            <a:off x="6583680" y="3776472"/>
            <a:ext cx="2286000" cy="685800"/>
          </a:xfrm>
          <a:prstGeom prst="rect">
            <a:avLst/>
          </a:prstGeom>
          <a:solidFill>
            <a:srgbClr val="F7F9FA"/>
          </a:solidFill>
          <a:ln w="12700">
            <a:solidFill>
              <a:srgbClr val="E2E8F0"/>
            </a:solidFill>
            <a:prstDash val="solid"/>
          </a:ln>
        </p:spPr>
      </p:sp>
      <p:sp>
        <p:nvSpPr>
          <p:cNvPr id="17" name="Shape 14"/>
          <p:cNvSpPr/>
          <p:nvPr/>
        </p:nvSpPr>
        <p:spPr>
          <a:xfrm>
            <a:off x="6583680" y="3776472"/>
            <a:ext cx="54864" cy="685800"/>
          </a:xfrm>
          <a:prstGeom prst="rect">
            <a:avLst/>
          </a:prstGeom>
          <a:solidFill>
            <a:srgbClr val="1C7293"/>
          </a:solidFill>
          <a:ln w="12700">
            <a:solidFill>
              <a:srgbClr val="1C7293"/>
            </a:solidFill>
            <a:prstDash val="solid"/>
          </a:ln>
        </p:spPr>
      </p:sp>
      <p:sp>
        <p:nvSpPr>
          <p:cNvPr id="18" name="Text 15"/>
          <p:cNvSpPr/>
          <p:nvPr/>
        </p:nvSpPr>
        <p:spPr>
          <a:xfrm>
            <a:off x="6693408" y="3831336"/>
            <a:ext cx="2103120" cy="594360"/>
          </a:xfrm>
          <a:prstGeom prst="rect">
            <a:avLst/>
          </a:prstGeom>
          <a:noFill/>
          <a:ln/>
        </p:spPr>
        <p:txBody>
          <a:bodyPr wrap="square" lIns="0" tIns="0" rIns="0" bIns="0" rtlCol="0" anchor="ctr"/>
          <a:lstStyle/>
          <a:p>
            <a:pPr indent="0" marL="0">
              <a:buNone/>
            </a:pPr>
            <a:r>
              <a:rPr lang="en-US" sz="850" dirty="0">
                <a:solidFill>
                  <a:srgbClr val="2D3748"/>
                </a:solidFill>
              </a:rPr>
              <a:t>If past crimes &lt; 27</a:t>
            </a:r>
            <a:endParaRPr lang="en-US" sz="850" dirty="0"/>
          </a:p>
          <a:p>
            <a:pPr indent="0" marL="0">
              <a:buNone/>
            </a:pPr>
            <a:r>
              <a:rPr lang="en-US" sz="850" dirty="0">
                <a:solidFill>
                  <a:srgbClr val="2D3748"/>
                </a:solidFill>
              </a:rPr>
              <a:t>AND transit stops ≤ 7</a:t>
            </a:r>
            <a:endParaRPr lang="en-US" sz="850" dirty="0"/>
          </a:p>
          <a:p>
            <a:pPr indent="0" marL="0">
              <a:buNone/>
            </a:pPr>
            <a:r>
              <a:rPr lang="en-US" sz="850" dirty="0">
                <a:solidFill>
                  <a:srgbClr val="2D3748"/>
                </a:solidFill>
              </a:rPr>
              <a:t>→ NOT hotspot</a:t>
            </a:r>
            <a:endParaRPr lang="en-US" sz="850" dirty="0"/>
          </a:p>
        </p:txBody>
      </p:sp>
      <p:sp>
        <p:nvSpPr>
          <p:cNvPr id="19" name="Shape 16"/>
          <p:cNvSpPr/>
          <p:nvPr/>
        </p:nvSpPr>
        <p:spPr>
          <a:xfrm>
            <a:off x="457200" y="4617720"/>
            <a:ext cx="5943600" cy="384048"/>
          </a:xfrm>
          <a:prstGeom prst="rect">
            <a:avLst/>
          </a:prstGeom>
          <a:solidFill>
            <a:srgbClr val="0D1F2D"/>
          </a:solidFill>
          <a:ln w="12700">
            <a:solidFill>
              <a:srgbClr val="0D1F2D"/>
            </a:solidFill>
            <a:prstDash val="solid"/>
          </a:ln>
        </p:spPr>
      </p:sp>
      <p:sp>
        <p:nvSpPr>
          <p:cNvPr id="20" name="Text 17"/>
          <p:cNvSpPr/>
          <p:nvPr/>
        </p:nvSpPr>
        <p:spPr>
          <a:xfrm>
            <a:off x="548640" y="4663440"/>
            <a:ext cx="5760720" cy="256032"/>
          </a:xfrm>
          <a:prstGeom prst="rect">
            <a:avLst/>
          </a:prstGeom>
          <a:noFill/>
          <a:ln/>
        </p:spPr>
        <p:txBody>
          <a:bodyPr wrap="square" lIns="0" tIns="0" rIns="0" bIns="0" rtlCol="0" anchor="ctr"/>
          <a:lstStyle/>
          <a:p>
            <a:pPr indent="0" marL="0">
              <a:buNone/>
            </a:pPr>
            <a:r>
              <a:rPr lang="en-US" sz="900" dirty="0">
                <a:solidFill>
                  <a:srgbClr val="FFFFFF"/>
                </a:solidFill>
              </a:rPr>
              <a:t>max_depth = 3  (tuned by 5-fold CV)   ·   CV F1 = 0.759   ·   Test F1 = 0.748   ·   Test AUC = 0.945</a:t>
            </a:r>
            <a:endParaRPr lang="en-US" sz="900" dirty="0"/>
          </a:p>
        </p:txBody>
      </p:sp>
      <p:sp>
        <p:nvSpPr>
          <p:cNvPr id="21" name="Text 18"/>
          <p:cNvSpPr/>
          <p:nvPr/>
        </p:nvSpPr>
        <p:spPr>
          <a:xfrm>
            <a:off x="457200" y="4919472"/>
            <a:ext cx="8229600" cy="201168"/>
          </a:xfrm>
          <a:prstGeom prst="rect">
            <a:avLst/>
          </a:prstGeom>
          <a:noFill/>
          <a:ln/>
        </p:spPr>
        <p:txBody>
          <a:bodyPr wrap="square" lIns="0" tIns="0" rIns="0" bIns="0" rtlCol="0" anchor="ctr"/>
          <a:lstStyle/>
          <a:p>
            <a:pPr indent="0" marL="0">
              <a:buNone/>
            </a:pPr>
            <a:r>
              <a:rPr lang="en-US" sz="800" dirty="0">
                <a:solidFill>
                  <a:srgbClr val="64748B"/>
                </a:solidFill>
              </a:rPr>
              <a:t>Algorithm: scikit-learn DecisionTreeClassifier  ·  Depth tuning: StratifiedKFold 5-fold CV on training set</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0D1F2D"/>
                </a:solidFill>
              </a:rPr>
              <a:t>Model 3: Random Forest — Final Model</a:t>
            </a:r>
            <a:endParaRPr lang="en-US" sz="2600" dirty="0"/>
          </a:p>
        </p:txBody>
      </p:sp>
      <p:sp>
        <p:nvSpPr>
          <p:cNvPr id="3" name="Shape 1"/>
          <p:cNvSpPr/>
          <p:nvPr/>
        </p:nvSpPr>
        <p:spPr>
          <a:xfrm>
            <a:off x="457200" y="841248"/>
            <a:ext cx="8229600" cy="36576"/>
          </a:xfrm>
          <a:prstGeom prst="rect">
            <a:avLst/>
          </a:prstGeom>
          <a:solidFill>
            <a:srgbClr val="C0392B"/>
          </a:solidFill>
          <a:ln w="12700">
            <a:solidFill>
              <a:srgbClr val="C0392B"/>
            </a:solidFill>
            <a:prstDash val="solid"/>
          </a:ln>
        </p:spPr>
      </p:sp>
      <p:pic>
        <p:nvPicPr>
          <p:cNvPr id="4" name="Image 0" descr="/mnt/user-data/uploads/18_feature_importance.png">    </p:cNvPr>
          <p:cNvPicPr>
            <a:picLocks noChangeAspect="1"/>
          </p:cNvPicPr>
          <p:nvPr/>
        </p:nvPicPr>
        <p:blipFill>
          <a:blip r:embed="rId1"/>
          <a:stretch>
            <a:fillRect/>
          </a:stretch>
        </p:blipFill>
        <p:spPr>
          <a:xfrm>
            <a:off x="457200" y="960120"/>
            <a:ext cx="5029200" cy="3474720"/>
          </a:xfrm>
          <a:prstGeom prst="rect">
            <a:avLst/>
          </a:prstGeom>
        </p:spPr>
      </p:pic>
      <p:sp>
        <p:nvSpPr>
          <p:cNvPr id="5" name="Text 2"/>
          <p:cNvSpPr/>
          <p:nvPr/>
        </p:nvSpPr>
        <p:spPr>
          <a:xfrm>
            <a:off x="5669280" y="960120"/>
            <a:ext cx="3200400" cy="292608"/>
          </a:xfrm>
          <a:prstGeom prst="rect">
            <a:avLst/>
          </a:prstGeom>
          <a:noFill/>
          <a:ln/>
        </p:spPr>
        <p:txBody>
          <a:bodyPr wrap="square" lIns="0" tIns="0" rIns="0" bIns="0" rtlCol="0" anchor="ctr"/>
          <a:lstStyle/>
          <a:p>
            <a:pPr indent="0" marL="0">
              <a:buNone/>
            </a:pPr>
            <a:r>
              <a:rPr lang="en-US" sz="1000" b="1" dirty="0">
                <a:solidFill>
                  <a:srgbClr val="0D1F2D"/>
                </a:solidFill>
              </a:rPr>
              <a:t>GridSearchCV Best Parameters</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0" y="1280160"/>
          <a:ext cx="3200400" cy="1920240"/>
        </p:xfrm>
        <a:graphic>
          <a:graphicData uri="http://schemas.openxmlformats.org/drawingml/2006/table">
            <a:tbl>
              <a:tblPr/>
              <a:tblGrid>
                <a:gridCol w="1645920"/>
                <a:gridCol w="1554480"/>
              </a:tblGrid>
              <a:tr h="274320">
                <a:tc>
                  <a:txBody>
                    <a:bodyPr/>
                    <a:lstStyle/>
                    <a:p>
                      <a:pPr indent="0" marL="0">
                        <a:buNone/>
                      </a:pPr>
                      <a:r>
                        <a:rPr lang="en-US" sz="900" b="1" dirty="0">
                          <a:solidFill>
                            <a:srgbClr val="FFFFFF"/>
                          </a:solidFill>
                        </a:rPr>
                        <a:t>Parameter</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900" b="1" dirty="0">
                          <a:solidFill>
                            <a:srgbClr val="FFFFFF"/>
                          </a:solidFill>
                        </a:rPr>
                        <a:t>Value</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065A82"/>
                    </a:solidFill>
                  </a:tcPr>
                </a:tc>
              </a:tr>
              <a:tr h="274320">
                <a:tc>
                  <a:txBody>
                    <a:bodyPr/>
                    <a:lstStyle/>
                    <a:p>
                      <a:pPr indent="0" marL="0">
                        <a:buNone/>
                      </a:pPr>
                      <a:r>
                        <a:rPr lang="en-US" sz="900" dirty="0">
                          <a:solidFill>
                            <a:srgbClr val="2D3748"/>
                          </a:solidFill>
                        </a:rPr>
                        <a:t>n_estimators</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00" dirty="0">
                          <a:solidFill>
                            <a:srgbClr val="2D3748"/>
                          </a:solidFill>
                        </a:rPr>
                        <a:t>100</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r>
              <a:tr h="274320">
                <a:tc>
                  <a:txBody>
                    <a:bodyPr/>
                    <a:lstStyle/>
                    <a:p>
                      <a:pPr indent="0" marL="0">
                        <a:buNone/>
                      </a:pPr>
                      <a:r>
                        <a:rPr lang="en-US" sz="900" dirty="0">
                          <a:solidFill>
                            <a:srgbClr val="2D3748"/>
                          </a:solidFill>
                        </a:rPr>
                        <a:t>max_depth</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2D3748"/>
                          </a:solidFill>
                        </a:rPr>
                        <a:t>None (fully grown)</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2D3748"/>
                          </a:solidFill>
                        </a:rPr>
                        <a:t>min_samples_leaf</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00" dirty="0">
                          <a:solidFill>
                            <a:srgbClr val="2D3748"/>
                          </a:solidFill>
                        </a:rPr>
                        <a:t>3</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r>
              <a:tr h="274320">
                <a:tc>
                  <a:txBody>
                    <a:bodyPr/>
                    <a:lstStyle/>
                    <a:p>
                      <a:pPr indent="0" marL="0">
                        <a:buNone/>
                      </a:pPr>
                      <a:r>
                        <a:rPr lang="en-US" sz="900" dirty="0">
                          <a:solidFill>
                            <a:srgbClr val="2D3748"/>
                          </a:solidFill>
                        </a:rPr>
                        <a:t>class_weight</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2D3748"/>
                          </a:solidFill>
                        </a:rPr>
                        <a:t>balanced</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2D3748"/>
                          </a:solidFill>
                        </a:rPr>
                        <a:t>CV folds</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c>
                  <a:txBody>
                    <a:bodyPr/>
                    <a:lstStyle/>
                    <a:p>
                      <a:pPr indent="0" marL="0">
                        <a:buNone/>
                      </a:pPr>
                      <a:r>
                        <a:rPr lang="en-US" sz="900" dirty="0">
                          <a:solidFill>
                            <a:srgbClr val="2D3748"/>
                          </a:solidFill>
                        </a:rPr>
                        <a:t>5-fold stratified</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7F9FA"/>
                    </a:solidFill>
                  </a:tcPr>
                </a:tc>
              </a:tr>
              <a:tr h="274320">
                <a:tc>
                  <a:txBody>
                    <a:bodyPr/>
                    <a:lstStyle/>
                    <a:p>
                      <a:pPr indent="0" marL="0">
                        <a:buNone/>
                      </a:pPr>
                      <a:r>
                        <a:rPr lang="en-US" sz="900" dirty="0">
                          <a:solidFill>
                            <a:srgbClr val="2D3748"/>
                          </a:solidFill>
                        </a:rPr>
                        <a:t>CV metric</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dirty="0">
                          <a:solidFill>
                            <a:srgbClr val="2D3748"/>
                          </a:solidFill>
                        </a:rPr>
                        <a:t>F1 score</a:t>
                      </a:r>
                      <a:endParaRPr lang="en-US" sz="900" dirty="0"/>
                    </a:p>
                  </a:txBody>
                  <a:tcPr marL="91440" marR="91440" marT="45720" marB="45720">
                    <a:lnL w="3810" cap="flat" cmpd="sng" algn="ctr">
                      <a:solidFill>
                        <a:srgbClr val="E2E8F0"/>
                      </a:solidFill>
                      <a:prstDash val="solid"/>
                      <a:round/>
                      <a:headEnd type="none" w="med" len="med"/>
                      <a:tailEnd type="none" w="med" len="med"/>
                    </a:lnL>
                    <a:lnR w="3810" cap="flat" cmpd="sng" algn="ctr">
                      <a:solidFill>
                        <a:srgbClr val="E2E8F0"/>
                      </a:solidFill>
                      <a:prstDash val="solid"/>
                      <a:round/>
                      <a:headEnd type="none" w="med" len="med"/>
                      <a:tailEnd type="none" w="med" len="med"/>
                    </a:lnR>
                    <a:lnT w="3810" cap="flat" cmpd="sng" algn="ctr">
                      <a:solidFill>
                        <a:srgbClr val="E2E8F0"/>
                      </a:solidFill>
                      <a:prstDash val="solid"/>
                      <a:round/>
                      <a:headEnd type="none" w="med" len="med"/>
                      <a:tailEnd type="none" w="med" len="med"/>
                    </a:lnT>
                    <a:lnB w="381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Text 3"/>
          <p:cNvSpPr/>
          <p:nvPr/>
        </p:nvSpPr>
        <p:spPr>
          <a:xfrm>
            <a:off x="5669280" y="3291840"/>
            <a:ext cx="3200400" cy="274320"/>
          </a:xfrm>
          <a:prstGeom prst="rect">
            <a:avLst/>
          </a:prstGeom>
          <a:noFill/>
          <a:ln/>
        </p:spPr>
        <p:txBody>
          <a:bodyPr wrap="square" lIns="0" tIns="0" rIns="0" bIns="0" rtlCol="0" anchor="ctr"/>
          <a:lstStyle/>
          <a:p>
            <a:pPr indent="0" marL="0">
              <a:buNone/>
            </a:pPr>
            <a:r>
              <a:rPr lang="en-US" sz="1000" b="1" dirty="0">
                <a:solidFill>
                  <a:srgbClr val="0D1F2D"/>
                </a:solidFill>
              </a:rPr>
              <a:t>Top Feature Contributions</a:t>
            </a:r>
            <a:endParaRPr lang="en-US" sz="1000" dirty="0"/>
          </a:p>
        </p:txBody>
      </p:sp>
      <p:sp>
        <p:nvSpPr>
          <p:cNvPr id="8" name="Shape 4"/>
          <p:cNvSpPr/>
          <p:nvPr/>
        </p:nvSpPr>
        <p:spPr>
          <a:xfrm>
            <a:off x="5669280" y="3657600"/>
            <a:ext cx="2763520" cy="155448"/>
          </a:xfrm>
          <a:prstGeom prst="rect">
            <a:avLst/>
          </a:prstGeom>
          <a:solidFill>
            <a:srgbClr val="C0392B"/>
          </a:solidFill>
          <a:ln w="12700">
            <a:solidFill>
              <a:srgbClr val="C0392B"/>
            </a:solidFill>
            <a:prstDash val="solid"/>
          </a:ln>
        </p:spPr>
      </p:sp>
      <p:sp>
        <p:nvSpPr>
          <p:cNvPr id="9" name="Text 5"/>
          <p:cNvSpPr/>
          <p:nvPr/>
        </p:nvSpPr>
        <p:spPr>
          <a:xfrm>
            <a:off x="5687568" y="3666744"/>
            <a:ext cx="3017520" cy="137160"/>
          </a:xfrm>
          <a:prstGeom prst="rect">
            <a:avLst/>
          </a:prstGeom>
          <a:noFill/>
          <a:ln/>
        </p:spPr>
        <p:txBody>
          <a:bodyPr wrap="square" lIns="0" tIns="0" rIns="0" bIns="0" rtlCol="0" anchor="ctr"/>
          <a:lstStyle/>
          <a:p>
            <a:pPr indent="0" marL="0">
              <a:buNone/>
            </a:pPr>
            <a:r>
              <a:rPr lang="en-US" sz="750" dirty="0">
                <a:solidFill>
                  <a:srgbClr val="FFFFFF"/>
                </a:solidFill>
                <a:latin typeface="Consolas" pitchFamily="34" charset="0"/>
                <a:ea typeface="Consolas" pitchFamily="34" charset="-122"/>
                <a:cs typeface="Consolas" pitchFamily="34" charset="-120"/>
              </a:rPr>
              <a:t>past_vehicle_crime_count  40%</a:t>
            </a:r>
            <a:endParaRPr lang="en-US" sz="750" dirty="0"/>
          </a:p>
        </p:txBody>
      </p:sp>
      <p:sp>
        <p:nvSpPr>
          <p:cNvPr id="10" name="Shape 6"/>
          <p:cNvSpPr/>
          <p:nvPr/>
        </p:nvSpPr>
        <p:spPr>
          <a:xfrm>
            <a:off x="5669280" y="3849624"/>
            <a:ext cx="1008685" cy="155448"/>
          </a:xfrm>
          <a:prstGeom prst="rect">
            <a:avLst/>
          </a:prstGeom>
          <a:solidFill>
            <a:srgbClr val="065A82"/>
          </a:solidFill>
          <a:ln w="12700">
            <a:solidFill>
              <a:srgbClr val="065A82"/>
            </a:solidFill>
            <a:prstDash val="solid"/>
          </a:ln>
        </p:spPr>
      </p:sp>
      <p:sp>
        <p:nvSpPr>
          <p:cNvPr id="11" name="Text 7"/>
          <p:cNvSpPr/>
          <p:nvPr/>
        </p:nvSpPr>
        <p:spPr>
          <a:xfrm>
            <a:off x="5687568" y="3858768"/>
            <a:ext cx="3017520" cy="137160"/>
          </a:xfrm>
          <a:prstGeom prst="rect">
            <a:avLst/>
          </a:prstGeom>
          <a:noFill/>
          <a:ln/>
        </p:spPr>
        <p:txBody>
          <a:bodyPr wrap="square" lIns="0" tIns="0" rIns="0" bIns="0" rtlCol="0" anchor="ctr"/>
          <a:lstStyle/>
          <a:p>
            <a:pPr indent="0" marL="0">
              <a:buNone/>
            </a:pPr>
            <a:r>
              <a:rPr lang="en-US" sz="750" dirty="0">
                <a:solidFill>
                  <a:srgbClr val="FFFFFF"/>
                </a:solidFill>
                <a:latin typeface="Consolas" pitchFamily="34" charset="0"/>
                <a:ea typeface="Consolas" pitchFamily="34" charset="-122"/>
                <a:cs typeface="Consolas" pitchFamily="34" charset="-120"/>
              </a:rPr>
              <a:t>road_density  14.6%</a:t>
            </a:r>
            <a:endParaRPr lang="en-US" sz="750" dirty="0"/>
          </a:p>
        </p:txBody>
      </p:sp>
      <p:sp>
        <p:nvSpPr>
          <p:cNvPr id="12" name="Shape 8"/>
          <p:cNvSpPr/>
          <p:nvPr/>
        </p:nvSpPr>
        <p:spPr>
          <a:xfrm>
            <a:off x="5669280" y="4041648"/>
            <a:ext cx="953414" cy="155448"/>
          </a:xfrm>
          <a:prstGeom prst="rect">
            <a:avLst/>
          </a:prstGeom>
          <a:solidFill>
            <a:srgbClr val="065A82"/>
          </a:solidFill>
          <a:ln w="12700">
            <a:solidFill>
              <a:srgbClr val="065A82"/>
            </a:solidFill>
            <a:prstDash val="solid"/>
          </a:ln>
        </p:spPr>
      </p:sp>
      <p:sp>
        <p:nvSpPr>
          <p:cNvPr id="13" name="Text 9"/>
          <p:cNvSpPr/>
          <p:nvPr/>
        </p:nvSpPr>
        <p:spPr>
          <a:xfrm>
            <a:off x="5687568" y="4050792"/>
            <a:ext cx="3017520" cy="137160"/>
          </a:xfrm>
          <a:prstGeom prst="rect">
            <a:avLst/>
          </a:prstGeom>
          <a:noFill/>
          <a:ln/>
        </p:spPr>
        <p:txBody>
          <a:bodyPr wrap="square" lIns="0" tIns="0" rIns="0" bIns="0" rtlCol="0" anchor="ctr"/>
          <a:lstStyle/>
          <a:p>
            <a:pPr indent="0" marL="0">
              <a:buNone/>
            </a:pPr>
            <a:r>
              <a:rPr lang="en-US" sz="750" dirty="0">
                <a:solidFill>
                  <a:srgbClr val="FFFFFF"/>
                </a:solidFill>
                <a:latin typeface="Consolas" pitchFamily="34" charset="0"/>
                <a:ea typeface="Consolas" pitchFamily="34" charset="-122"/>
                <a:cs typeface="Consolas" pitchFamily="34" charset="-120"/>
              </a:rPr>
              <a:t>intersection_count  13.8%</a:t>
            </a:r>
            <a:endParaRPr lang="en-US" sz="750" dirty="0"/>
          </a:p>
        </p:txBody>
      </p:sp>
      <p:sp>
        <p:nvSpPr>
          <p:cNvPr id="14" name="Shape 10"/>
          <p:cNvSpPr/>
          <p:nvPr/>
        </p:nvSpPr>
        <p:spPr>
          <a:xfrm>
            <a:off x="5669280" y="4233672"/>
            <a:ext cx="462890" cy="155448"/>
          </a:xfrm>
          <a:prstGeom prst="rect">
            <a:avLst/>
          </a:prstGeom>
          <a:solidFill>
            <a:srgbClr val="065A82"/>
          </a:solidFill>
          <a:ln w="12700">
            <a:solidFill>
              <a:srgbClr val="065A82"/>
            </a:solidFill>
            <a:prstDash val="solid"/>
          </a:ln>
        </p:spPr>
      </p:sp>
      <p:sp>
        <p:nvSpPr>
          <p:cNvPr id="15" name="Text 11"/>
          <p:cNvSpPr/>
          <p:nvPr/>
        </p:nvSpPr>
        <p:spPr>
          <a:xfrm>
            <a:off x="5687568" y="4242816"/>
            <a:ext cx="3017520" cy="137160"/>
          </a:xfrm>
          <a:prstGeom prst="rect">
            <a:avLst/>
          </a:prstGeom>
          <a:noFill/>
          <a:ln/>
        </p:spPr>
        <p:txBody>
          <a:bodyPr wrap="square" lIns="0" tIns="0" rIns="0" bIns="0" rtlCol="0" anchor="ctr"/>
          <a:lstStyle/>
          <a:p>
            <a:pPr indent="0" marL="0">
              <a:buNone/>
            </a:pPr>
            <a:r>
              <a:rPr lang="en-US" sz="750" dirty="0">
                <a:solidFill>
                  <a:srgbClr val="FFFFFF"/>
                </a:solidFill>
                <a:latin typeface="Consolas" pitchFamily="34" charset="0"/>
                <a:ea typeface="Consolas" pitchFamily="34" charset="-122"/>
                <a:cs typeface="Consolas" pitchFamily="34" charset="-120"/>
              </a:rPr>
              <a:t>transit_stop_count  6.7%</a:t>
            </a:r>
            <a:endParaRPr lang="en-US" sz="750" dirty="0"/>
          </a:p>
        </p:txBody>
      </p:sp>
      <p:sp>
        <p:nvSpPr>
          <p:cNvPr id="16" name="Shape 12"/>
          <p:cNvSpPr/>
          <p:nvPr/>
        </p:nvSpPr>
        <p:spPr>
          <a:xfrm>
            <a:off x="5669280" y="4425696"/>
            <a:ext cx="442163" cy="155448"/>
          </a:xfrm>
          <a:prstGeom prst="rect">
            <a:avLst/>
          </a:prstGeom>
          <a:solidFill>
            <a:srgbClr val="065A82"/>
          </a:solidFill>
          <a:ln w="12700">
            <a:solidFill>
              <a:srgbClr val="065A82"/>
            </a:solidFill>
            <a:prstDash val="solid"/>
          </a:ln>
        </p:spPr>
      </p:sp>
      <p:sp>
        <p:nvSpPr>
          <p:cNvPr id="17" name="Text 13"/>
          <p:cNvSpPr/>
          <p:nvPr/>
        </p:nvSpPr>
        <p:spPr>
          <a:xfrm>
            <a:off x="5687568" y="4434840"/>
            <a:ext cx="3017520" cy="137160"/>
          </a:xfrm>
          <a:prstGeom prst="rect">
            <a:avLst/>
          </a:prstGeom>
          <a:noFill/>
          <a:ln/>
        </p:spPr>
        <p:txBody>
          <a:bodyPr wrap="square" lIns="0" tIns="0" rIns="0" bIns="0" rtlCol="0" anchor="ctr"/>
          <a:lstStyle/>
          <a:p>
            <a:pPr indent="0" marL="0">
              <a:buNone/>
            </a:pPr>
            <a:r>
              <a:rPr lang="en-US" sz="750" dirty="0">
                <a:solidFill>
                  <a:srgbClr val="FFFFFF"/>
                </a:solidFill>
                <a:latin typeface="Consolas" pitchFamily="34" charset="0"/>
                <a:ea typeface="Consolas" pitchFamily="34" charset="-122"/>
                <a:cs typeface="Consolas" pitchFamily="34" charset="-120"/>
              </a:rPr>
              <a:t>dist_to_downtown_m  6.4%</a:t>
            </a:r>
            <a:endParaRPr lang="en-US" sz="750" dirty="0"/>
          </a:p>
        </p:txBody>
      </p:sp>
      <p:sp>
        <p:nvSpPr>
          <p:cNvPr id="18" name="Text 14"/>
          <p:cNvSpPr/>
          <p:nvPr/>
        </p:nvSpPr>
        <p:spPr>
          <a:xfrm>
            <a:off x="457200" y="4892040"/>
            <a:ext cx="8229600" cy="201168"/>
          </a:xfrm>
          <a:prstGeom prst="rect">
            <a:avLst/>
          </a:prstGeom>
          <a:noFill/>
          <a:ln/>
        </p:spPr>
        <p:txBody>
          <a:bodyPr wrap="square" lIns="0" tIns="0" rIns="0" bIns="0" rtlCol="0" anchor="ctr"/>
          <a:lstStyle/>
          <a:p>
            <a:pPr indent="0" marL="0">
              <a:buNone/>
            </a:pPr>
            <a:r>
              <a:rPr lang="en-US" sz="800" dirty="0">
                <a:solidFill>
                  <a:srgbClr val="64748B"/>
                </a:solidFill>
              </a:rPr>
              <a:t>Algorithm: scikit-learn RandomForestClassifier  ·  Tuning: GridSearchCV (12 candidates, 60 fits)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0D1F2D"/>
                </a:solidFill>
              </a:rPr>
              <a:t>Model Comparison — Which Performs Best?</a:t>
            </a:r>
            <a:endParaRPr lang="en-US" sz="2600" dirty="0"/>
          </a:p>
        </p:txBody>
      </p:sp>
      <p:sp>
        <p:nvSpPr>
          <p:cNvPr id="3" name="Shape 1"/>
          <p:cNvSpPr/>
          <p:nvPr/>
        </p:nvSpPr>
        <p:spPr>
          <a:xfrm>
            <a:off x="457200" y="841248"/>
            <a:ext cx="8229600" cy="36576"/>
          </a:xfrm>
          <a:prstGeom prst="rect">
            <a:avLst/>
          </a:prstGeom>
          <a:solidFill>
            <a:srgbClr val="065A82"/>
          </a:solidFill>
          <a:ln w="12700">
            <a:solidFill>
              <a:srgbClr val="065A82"/>
            </a:solidFill>
            <a:prstDash val="solid"/>
          </a:ln>
        </p:spPr>
      </p:sp>
      <p:graphicFrame>
        <p:nvGraphicFramePr>
          <p:cNvPr id="4" name="Chart 0" descr=""/>
          <p:cNvGraphicFramePr/>
          <p:nvPr/>
        </p:nvGraphicFramePr>
        <p:xfrm>
          <a:off x="457200" y="960120"/>
          <a:ext cx="566928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09360" y="960120"/>
            <a:ext cx="2606040" cy="530352"/>
          </a:xfrm>
          <a:prstGeom prst="rect">
            <a:avLst/>
          </a:prstGeom>
          <a:solidFill>
            <a:srgbClr val="F7F9FA"/>
          </a:solidFill>
          <a:ln w="12700">
            <a:solidFill>
              <a:srgbClr val="E2E8F0"/>
            </a:solidFill>
            <a:prstDash val="solid"/>
          </a:ln>
        </p:spPr>
      </p:sp>
      <p:sp>
        <p:nvSpPr>
          <p:cNvPr id="6" name="Shape 3"/>
          <p:cNvSpPr/>
          <p:nvPr/>
        </p:nvSpPr>
        <p:spPr>
          <a:xfrm>
            <a:off x="6309360" y="960120"/>
            <a:ext cx="64008" cy="530352"/>
          </a:xfrm>
          <a:prstGeom prst="rect">
            <a:avLst/>
          </a:prstGeom>
          <a:solidFill>
            <a:srgbClr val="1C7293"/>
          </a:solidFill>
          <a:ln w="12700">
            <a:solidFill>
              <a:srgbClr val="1C7293"/>
            </a:solidFill>
            <a:prstDash val="solid"/>
          </a:ln>
        </p:spPr>
      </p:sp>
      <p:sp>
        <p:nvSpPr>
          <p:cNvPr id="7" name="Text 4"/>
          <p:cNvSpPr/>
          <p:nvPr/>
        </p:nvSpPr>
        <p:spPr>
          <a:xfrm>
            <a:off x="6419088" y="996696"/>
            <a:ext cx="2423160" cy="201168"/>
          </a:xfrm>
          <a:prstGeom prst="rect">
            <a:avLst/>
          </a:prstGeom>
          <a:noFill/>
          <a:ln/>
        </p:spPr>
        <p:txBody>
          <a:bodyPr wrap="square" lIns="0" tIns="0" rIns="0" bIns="0" rtlCol="0" anchor="ctr"/>
          <a:lstStyle/>
          <a:p>
            <a:pPr indent="0" marL="0">
              <a:buNone/>
            </a:pPr>
            <a:r>
              <a:rPr lang="en-US" sz="950" b="1" dirty="0">
                <a:solidFill>
                  <a:srgbClr val="0D1F2D"/>
                </a:solidFill>
              </a:rPr>
              <a:t>Logistic Regression</a:t>
            </a:r>
            <a:endParaRPr lang="en-US" sz="950" dirty="0"/>
          </a:p>
        </p:txBody>
      </p:sp>
      <p:sp>
        <p:nvSpPr>
          <p:cNvPr id="8" name="Text 5"/>
          <p:cNvSpPr/>
          <p:nvPr/>
        </p:nvSpPr>
        <p:spPr>
          <a:xfrm>
            <a:off x="6419088" y="1234440"/>
            <a:ext cx="2423160" cy="201168"/>
          </a:xfrm>
          <a:prstGeom prst="rect">
            <a:avLst/>
          </a:prstGeom>
          <a:noFill/>
          <a:ln/>
        </p:spPr>
        <p:txBody>
          <a:bodyPr wrap="square" lIns="0" tIns="0" rIns="0" bIns="0" rtlCol="0" anchor="ctr"/>
          <a:lstStyle/>
          <a:p>
            <a:pPr indent="0" marL="0">
              <a:buNone/>
            </a:pPr>
            <a:r>
              <a:rPr lang="en-US" sz="850" dirty="0">
                <a:solidFill>
                  <a:srgbClr val="2D3748"/>
                </a:solidFill>
                <a:latin typeface="Consolas" pitchFamily="34" charset="0"/>
                <a:ea typeface="Consolas" pitchFamily="34" charset="-122"/>
                <a:cs typeface="Consolas" pitchFamily="34" charset="-120"/>
              </a:rPr>
              <a:t>Acc 0.879  ·  F1 0.792  ·  AUC 0.948</a:t>
            </a:r>
            <a:endParaRPr lang="en-US" sz="850" dirty="0"/>
          </a:p>
        </p:txBody>
      </p:sp>
      <p:sp>
        <p:nvSpPr>
          <p:cNvPr id="9" name="Shape 6"/>
          <p:cNvSpPr/>
          <p:nvPr/>
        </p:nvSpPr>
        <p:spPr>
          <a:xfrm>
            <a:off x="6309360" y="1563624"/>
            <a:ext cx="2606040" cy="530352"/>
          </a:xfrm>
          <a:prstGeom prst="rect">
            <a:avLst/>
          </a:prstGeom>
          <a:solidFill>
            <a:srgbClr val="F7F9FA"/>
          </a:solidFill>
          <a:ln w="12700">
            <a:solidFill>
              <a:srgbClr val="E2E8F0"/>
            </a:solidFill>
            <a:prstDash val="solid"/>
          </a:ln>
        </p:spPr>
      </p:sp>
      <p:sp>
        <p:nvSpPr>
          <p:cNvPr id="10" name="Shape 7"/>
          <p:cNvSpPr/>
          <p:nvPr/>
        </p:nvSpPr>
        <p:spPr>
          <a:xfrm>
            <a:off x="6309360" y="1563624"/>
            <a:ext cx="64008" cy="530352"/>
          </a:xfrm>
          <a:prstGeom prst="rect">
            <a:avLst/>
          </a:prstGeom>
          <a:solidFill>
            <a:srgbClr val="065A82"/>
          </a:solidFill>
          <a:ln w="12700">
            <a:solidFill>
              <a:srgbClr val="065A82"/>
            </a:solidFill>
            <a:prstDash val="solid"/>
          </a:ln>
        </p:spPr>
      </p:sp>
      <p:sp>
        <p:nvSpPr>
          <p:cNvPr id="11" name="Text 8"/>
          <p:cNvSpPr/>
          <p:nvPr/>
        </p:nvSpPr>
        <p:spPr>
          <a:xfrm>
            <a:off x="6419088" y="1600200"/>
            <a:ext cx="2423160" cy="201168"/>
          </a:xfrm>
          <a:prstGeom prst="rect">
            <a:avLst/>
          </a:prstGeom>
          <a:noFill/>
          <a:ln/>
        </p:spPr>
        <p:txBody>
          <a:bodyPr wrap="square" lIns="0" tIns="0" rIns="0" bIns="0" rtlCol="0" anchor="ctr"/>
          <a:lstStyle/>
          <a:p>
            <a:pPr indent="0" marL="0">
              <a:buNone/>
            </a:pPr>
            <a:r>
              <a:rPr lang="en-US" sz="950" b="1" dirty="0">
                <a:solidFill>
                  <a:srgbClr val="0D1F2D"/>
                </a:solidFill>
              </a:rPr>
              <a:t>Decision Tree</a:t>
            </a:r>
            <a:endParaRPr lang="en-US" sz="950" dirty="0"/>
          </a:p>
        </p:txBody>
      </p:sp>
      <p:sp>
        <p:nvSpPr>
          <p:cNvPr id="12" name="Text 9"/>
          <p:cNvSpPr/>
          <p:nvPr/>
        </p:nvSpPr>
        <p:spPr>
          <a:xfrm>
            <a:off x="6419088" y="1837944"/>
            <a:ext cx="2423160" cy="201168"/>
          </a:xfrm>
          <a:prstGeom prst="rect">
            <a:avLst/>
          </a:prstGeom>
          <a:noFill/>
          <a:ln/>
        </p:spPr>
        <p:txBody>
          <a:bodyPr wrap="square" lIns="0" tIns="0" rIns="0" bIns="0" rtlCol="0" anchor="ctr"/>
          <a:lstStyle/>
          <a:p>
            <a:pPr indent="0" marL="0">
              <a:buNone/>
            </a:pPr>
            <a:r>
              <a:rPr lang="en-US" sz="850" dirty="0">
                <a:solidFill>
                  <a:srgbClr val="2D3748"/>
                </a:solidFill>
                <a:latin typeface="Consolas" pitchFamily="34" charset="0"/>
                <a:ea typeface="Consolas" pitchFamily="34" charset="-122"/>
                <a:cs typeface="Consolas" pitchFamily="34" charset="-120"/>
              </a:rPr>
              <a:t>Acc 0.848  ·  F1 0.748  ·  AUC 0.945</a:t>
            </a:r>
            <a:endParaRPr lang="en-US" sz="850" dirty="0"/>
          </a:p>
        </p:txBody>
      </p:sp>
      <p:sp>
        <p:nvSpPr>
          <p:cNvPr id="13" name="Shape 10"/>
          <p:cNvSpPr/>
          <p:nvPr/>
        </p:nvSpPr>
        <p:spPr>
          <a:xfrm>
            <a:off x="6309360" y="2167128"/>
            <a:ext cx="2606040" cy="530352"/>
          </a:xfrm>
          <a:prstGeom prst="rect">
            <a:avLst/>
          </a:prstGeom>
          <a:solidFill>
            <a:srgbClr val="F7F9FA"/>
          </a:solidFill>
          <a:ln w="12700">
            <a:solidFill>
              <a:srgbClr val="E2E8F0"/>
            </a:solidFill>
            <a:prstDash val="solid"/>
          </a:ln>
        </p:spPr>
      </p:sp>
      <p:sp>
        <p:nvSpPr>
          <p:cNvPr id="14" name="Shape 11"/>
          <p:cNvSpPr/>
          <p:nvPr/>
        </p:nvSpPr>
        <p:spPr>
          <a:xfrm>
            <a:off x="6309360" y="2167128"/>
            <a:ext cx="64008" cy="530352"/>
          </a:xfrm>
          <a:prstGeom prst="rect">
            <a:avLst/>
          </a:prstGeom>
          <a:solidFill>
            <a:srgbClr val="C0392B"/>
          </a:solidFill>
          <a:ln w="12700">
            <a:solidFill>
              <a:srgbClr val="C0392B"/>
            </a:solidFill>
            <a:prstDash val="solid"/>
          </a:ln>
        </p:spPr>
      </p:sp>
      <p:sp>
        <p:nvSpPr>
          <p:cNvPr id="15" name="Text 12"/>
          <p:cNvSpPr/>
          <p:nvPr/>
        </p:nvSpPr>
        <p:spPr>
          <a:xfrm>
            <a:off x="6419088" y="2203704"/>
            <a:ext cx="2423160" cy="201168"/>
          </a:xfrm>
          <a:prstGeom prst="rect">
            <a:avLst/>
          </a:prstGeom>
          <a:noFill/>
          <a:ln/>
        </p:spPr>
        <p:txBody>
          <a:bodyPr wrap="square" lIns="0" tIns="0" rIns="0" bIns="0" rtlCol="0" anchor="ctr"/>
          <a:lstStyle/>
          <a:p>
            <a:pPr indent="0" marL="0">
              <a:buNone/>
            </a:pPr>
            <a:r>
              <a:rPr lang="en-US" sz="950" b="1" dirty="0">
                <a:solidFill>
                  <a:srgbClr val="0D1F2D"/>
                </a:solidFill>
              </a:rPr>
              <a:t>Random Forest ★</a:t>
            </a:r>
            <a:endParaRPr lang="en-US" sz="950" dirty="0"/>
          </a:p>
        </p:txBody>
      </p:sp>
      <p:sp>
        <p:nvSpPr>
          <p:cNvPr id="16" name="Text 13"/>
          <p:cNvSpPr/>
          <p:nvPr/>
        </p:nvSpPr>
        <p:spPr>
          <a:xfrm>
            <a:off x="6419088" y="2441448"/>
            <a:ext cx="2423160" cy="201168"/>
          </a:xfrm>
          <a:prstGeom prst="rect">
            <a:avLst/>
          </a:prstGeom>
          <a:noFill/>
          <a:ln/>
        </p:spPr>
        <p:txBody>
          <a:bodyPr wrap="square" lIns="0" tIns="0" rIns="0" bIns="0" rtlCol="0" anchor="ctr"/>
          <a:lstStyle/>
          <a:p>
            <a:pPr indent="0" marL="0">
              <a:buNone/>
            </a:pPr>
            <a:r>
              <a:rPr lang="en-US" sz="850" dirty="0">
                <a:solidFill>
                  <a:srgbClr val="2D3748"/>
                </a:solidFill>
                <a:latin typeface="Consolas" pitchFamily="34" charset="0"/>
                <a:ea typeface="Consolas" pitchFamily="34" charset="-122"/>
                <a:cs typeface="Consolas" pitchFamily="34" charset="-120"/>
              </a:rPr>
              <a:t>Acc 0.875  ·  F1 0.778  ·  AUC 0.952</a:t>
            </a:r>
            <a:endParaRPr lang="en-US" sz="850" dirty="0"/>
          </a:p>
        </p:txBody>
      </p:sp>
      <p:sp>
        <p:nvSpPr>
          <p:cNvPr id="17" name="Shape 14"/>
          <p:cNvSpPr/>
          <p:nvPr/>
        </p:nvSpPr>
        <p:spPr>
          <a:xfrm>
            <a:off x="6309360" y="2926080"/>
            <a:ext cx="2606040" cy="1508760"/>
          </a:xfrm>
          <a:prstGeom prst="rect">
            <a:avLst/>
          </a:prstGeom>
          <a:solidFill>
            <a:srgbClr val="0D1F2D"/>
          </a:solidFill>
          <a:ln w="12700">
            <a:solidFill>
              <a:srgbClr val="0D1F2D"/>
            </a:solidFill>
            <a:prstDash val="solid"/>
          </a:ln>
          <a:effectLst>
            <a:outerShdw sx="100000" sy="100000" kx="0" ky="0" algn="bl" rotWithShape="0" blurRad="101600" dist="38100" dir="8100000">
              <a:srgbClr val="000000">
                <a:alpha val="12000"/>
              </a:srgbClr>
            </a:outerShdw>
          </a:effectLst>
        </p:spPr>
      </p:sp>
      <p:sp>
        <p:nvSpPr>
          <p:cNvPr id="18" name="Text 15"/>
          <p:cNvSpPr/>
          <p:nvPr/>
        </p:nvSpPr>
        <p:spPr>
          <a:xfrm>
            <a:off x="6400800" y="2999232"/>
            <a:ext cx="2423160" cy="256032"/>
          </a:xfrm>
          <a:prstGeom prst="rect">
            <a:avLst/>
          </a:prstGeom>
          <a:noFill/>
          <a:ln/>
        </p:spPr>
        <p:txBody>
          <a:bodyPr wrap="square" lIns="0" tIns="0" rIns="0" bIns="0" rtlCol="0" anchor="ctr"/>
          <a:lstStyle/>
          <a:p>
            <a:pPr indent="0" marL="0">
              <a:buNone/>
            </a:pPr>
            <a:r>
              <a:rPr lang="en-US" sz="1000" b="1" dirty="0">
                <a:solidFill>
                  <a:srgbClr val="1C7293"/>
                </a:solidFill>
              </a:rPr>
              <a:t>Why Random Forest?</a:t>
            </a:r>
            <a:endParaRPr lang="en-US" sz="1000" dirty="0"/>
          </a:p>
        </p:txBody>
      </p:sp>
      <p:sp>
        <p:nvSpPr>
          <p:cNvPr id="19" name="Text 16"/>
          <p:cNvSpPr/>
          <p:nvPr/>
        </p:nvSpPr>
        <p:spPr>
          <a:xfrm>
            <a:off x="6400800" y="3291840"/>
            <a:ext cx="2423160" cy="1097280"/>
          </a:xfrm>
          <a:prstGeom prst="rect">
            <a:avLst/>
          </a:prstGeom>
          <a:noFill/>
          <a:ln/>
        </p:spPr>
        <p:txBody>
          <a:bodyPr wrap="square" lIns="0" tIns="0" rIns="0" bIns="0" rtlCol="0" anchor="ctr"/>
          <a:lstStyle/>
          <a:p>
            <a:pPr indent="0" marL="0">
              <a:buNone/>
            </a:pPr>
            <a:r>
              <a:rPr lang="en-US" sz="900" dirty="0">
                <a:solidFill>
                  <a:srgbClr val="FFFFFF"/>
                </a:solidFill>
              </a:rPr>
              <a:t>Best ROC-AUC (0.952)</a:t>
            </a:r>
            <a:endParaRPr lang="en-US" sz="900" dirty="0"/>
          </a:p>
          <a:p>
            <a:pPr indent="0" marL="0">
              <a:buNone/>
            </a:pPr>
            <a:r>
              <a:rPr lang="en-US" sz="900" dirty="0">
                <a:solidFill>
                  <a:srgbClr val="FFFFFF"/>
                </a:solidFill>
              </a:rPr>
              <a:t>Best Precision (0.718)</a:t>
            </a:r>
            <a:endParaRPr lang="en-US" sz="900" dirty="0"/>
          </a:p>
          <a:p>
            <a:pPr indent="0" marL="0">
              <a:buNone/>
            </a:pPr>
            <a:r>
              <a:rPr lang="en-US" sz="900" dirty="0">
                <a:solidFill>
                  <a:srgbClr val="FFFFFF"/>
                </a:solidFill>
              </a:rPr>
              <a:t>Produces risk probability scores</a:t>
            </a:r>
            <a:endParaRPr lang="en-US" sz="900" dirty="0"/>
          </a:p>
          <a:p>
            <a:pPr indent="0" marL="0">
              <a:buNone/>
            </a:pPr>
            <a:r>
              <a:rPr lang="en-US" sz="900" dirty="0">
                <a:solidFill>
                  <a:srgbClr val="FFFFFF"/>
                </a:solidFill>
              </a:rPr>
              <a:t>Handles non-linear patterns</a:t>
            </a:r>
            <a:endParaRPr lang="en-US" sz="900" dirty="0"/>
          </a:p>
          <a:p>
            <a:pPr indent="0" marL="0">
              <a:buNone/>
            </a:pPr>
            <a:r>
              <a:rPr lang="en-US" sz="900" dirty="0">
                <a:solidFill>
                  <a:srgbClr val="FFFFFF"/>
                </a:solidFill>
              </a:rPr>
              <a:t>GridSearchCV justified params</a:t>
            </a:r>
            <a:endParaRPr lang="en-US" sz="900" dirty="0"/>
          </a:p>
        </p:txBody>
      </p:sp>
      <p:sp>
        <p:nvSpPr>
          <p:cNvPr id="20" name="Text 17"/>
          <p:cNvSpPr/>
          <p:nvPr/>
        </p:nvSpPr>
        <p:spPr>
          <a:xfrm>
            <a:off x="457200" y="4892040"/>
            <a:ext cx="8229600" cy="201168"/>
          </a:xfrm>
          <a:prstGeom prst="rect">
            <a:avLst/>
          </a:prstGeom>
          <a:noFill/>
          <a:ln/>
        </p:spPr>
        <p:txBody>
          <a:bodyPr wrap="square" lIns="0" tIns="0" rIns="0" bIns="0" rtlCol="0" anchor="ctr"/>
          <a:lstStyle/>
          <a:p>
            <a:pPr indent="0" marL="0">
              <a:buNone/>
            </a:pPr>
            <a:r>
              <a:rPr lang="en-US" sz="800" dirty="0">
                <a:solidFill>
                  <a:srgbClr val="64748B"/>
                </a:solidFill>
              </a:rPr>
              <a:t>Highlighted cells = best value per metric  ·  Green = LR best  ·  Red = RF best</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0D1F2D"/>
                </a:solidFill>
              </a:rPr>
              <a:t>Model Accuracy in Detail</a:t>
            </a:r>
            <a:endParaRPr lang="en-US" sz="2600" dirty="0"/>
          </a:p>
        </p:txBody>
      </p:sp>
      <p:sp>
        <p:nvSpPr>
          <p:cNvPr id="3" name="Shape 1"/>
          <p:cNvSpPr/>
          <p:nvPr/>
        </p:nvSpPr>
        <p:spPr>
          <a:xfrm>
            <a:off x="457200" y="841248"/>
            <a:ext cx="8229600" cy="36576"/>
          </a:xfrm>
          <a:prstGeom prst="rect">
            <a:avLst/>
          </a:prstGeom>
          <a:solidFill>
            <a:srgbClr val="065A82"/>
          </a:solidFill>
          <a:ln w="12700">
            <a:solidFill>
              <a:srgbClr val="065A82"/>
            </a:solidFill>
            <a:prstDash val="solid"/>
          </a:ln>
        </p:spPr>
      </p:sp>
      <p:pic>
        <p:nvPicPr>
          <p:cNvPr id="4" name="Image 0" descr="/mnt/user-data/uploads/17_confusion_matrices.png">    </p:cNvPr>
          <p:cNvPicPr>
            <a:picLocks noChangeAspect="1"/>
          </p:cNvPicPr>
          <p:nvPr/>
        </p:nvPicPr>
        <p:blipFill>
          <a:blip r:embed="rId1"/>
          <a:stretch>
            <a:fillRect/>
          </a:stretch>
        </p:blipFill>
        <p:spPr>
          <a:xfrm>
            <a:off x="457200" y="960120"/>
            <a:ext cx="5303520" cy="2377440"/>
          </a:xfrm>
          <a:prstGeom prst="rect">
            <a:avLst/>
          </a:prstGeom>
        </p:spPr>
      </p:pic>
      <p:pic>
        <p:nvPicPr>
          <p:cNvPr id="5" name="Image 1" descr="/mnt/user-data/uploads/16_roc_curves.png">    </p:cNvPr>
          <p:cNvPicPr>
            <a:picLocks noChangeAspect="1"/>
          </p:cNvPicPr>
          <p:nvPr/>
        </p:nvPicPr>
        <p:blipFill>
          <a:blip r:embed="rId2"/>
          <a:stretch>
            <a:fillRect/>
          </a:stretch>
        </p:blipFill>
        <p:spPr>
          <a:xfrm>
            <a:off x="457200" y="3429000"/>
            <a:ext cx="5303520" cy="1463040"/>
          </a:xfrm>
          <a:prstGeom prst="rect">
            <a:avLst/>
          </a:prstGeom>
        </p:spPr>
      </p:pic>
      <p:sp>
        <p:nvSpPr>
          <p:cNvPr id="6" name="Shape 2"/>
          <p:cNvSpPr/>
          <p:nvPr/>
        </p:nvSpPr>
        <p:spPr>
          <a:xfrm>
            <a:off x="5943600" y="960120"/>
            <a:ext cx="2926080" cy="320040"/>
          </a:xfrm>
          <a:prstGeom prst="rect">
            <a:avLst/>
          </a:prstGeom>
          <a:solidFill>
            <a:srgbClr val="0D1F2D"/>
          </a:solidFill>
          <a:ln w="12700">
            <a:solidFill>
              <a:srgbClr val="0D1F2D"/>
            </a:solidFill>
            <a:prstDash val="solid"/>
          </a:ln>
        </p:spPr>
      </p:sp>
      <p:sp>
        <p:nvSpPr>
          <p:cNvPr id="7" name="Text 3"/>
          <p:cNvSpPr/>
          <p:nvPr/>
        </p:nvSpPr>
        <p:spPr>
          <a:xfrm>
            <a:off x="5989320" y="996696"/>
            <a:ext cx="2834640" cy="237744"/>
          </a:xfrm>
          <a:prstGeom prst="rect">
            <a:avLst/>
          </a:prstGeom>
          <a:noFill/>
          <a:ln/>
        </p:spPr>
        <p:txBody>
          <a:bodyPr wrap="square" lIns="0" tIns="0" rIns="0" bIns="0" rtlCol="0" anchor="ctr"/>
          <a:lstStyle/>
          <a:p>
            <a:pPr indent="0" marL="0">
              <a:buNone/>
            </a:pPr>
            <a:r>
              <a:rPr lang="en-US" sz="900" b="1" dirty="0">
                <a:solidFill>
                  <a:srgbClr val="FFFFFF"/>
                </a:solidFill>
              </a:rPr>
              <a:t>Random Forest — Test Set (256 cells)</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0" y="1298448"/>
          <a:ext cx="2926080" cy="1280160"/>
        </p:xfrm>
        <a:graphic>
          <a:graphicData uri="http://schemas.openxmlformats.org/drawingml/2006/table">
            <a:tbl>
              <a:tblPr/>
              <a:tblGrid>
                <a:gridCol w="1188720"/>
                <a:gridCol w="868680"/>
                <a:gridCol w="868680"/>
              </a:tblGrid>
              <a:tr h="384048">
                <a:tc>
                  <a:txBody>
                    <a:bodyPr/>
                    <a:lstStyle/>
                    <a:p>
                      <a:pPr indent="0" marL="0">
                        <a:buNone/>
                      </a:pP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indent="0" marL="0">
                        <a:buNone/>
                      </a:pPr>
                      <a:r>
                        <a:rPr lang="en-US" sz="950" b="1" dirty="0">
                          <a:solidFill>
                            <a:srgbClr val="2D3748"/>
                          </a:solidFill>
                        </a:rPr>
                        <a:t>Pred: Non-Hotspot</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indent="0" marL="0">
                        <a:buNone/>
                      </a:pPr>
                      <a:r>
                        <a:rPr lang="en-US" sz="950" b="1" dirty="0">
                          <a:solidFill>
                            <a:srgbClr val="2D3748"/>
                          </a:solidFill>
                        </a:rPr>
                        <a:t>Pred: Hotspot</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r>
              <a:tr h="384048">
                <a:tc>
                  <a:txBody>
                    <a:bodyPr/>
                    <a:lstStyle/>
                    <a:p>
                      <a:pPr indent="0" marL="0">
                        <a:buNone/>
                      </a:pPr>
                      <a:r>
                        <a:rPr lang="en-US" sz="950" b="1" dirty="0">
                          <a:solidFill>
                            <a:srgbClr val="2D3748"/>
                          </a:solidFill>
                        </a:rPr>
                        <a:t>Actual: Non-Hotspot</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indent="0" marL="0">
                        <a:buNone/>
                      </a:pPr>
                      <a:r>
                        <a:rPr lang="en-US" sz="950" b="1" dirty="0">
                          <a:solidFill>
                            <a:srgbClr val="1A7A4A"/>
                          </a:solidFill>
                        </a:rPr>
                        <a:t>168 ✓</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b="1" dirty="0">
                          <a:solidFill>
                            <a:srgbClr val="C0392B"/>
                          </a:solidFill>
                        </a:rPr>
                        <a:t>22 ✗</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2D3748"/>
                          </a:solidFill>
                        </a:rPr>
                        <a:t>Actual: Hotspot</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2E8F0"/>
                    </a:solidFill>
                  </a:tcPr>
                </a:tc>
                <a:tc>
                  <a:txBody>
                    <a:bodyPr/>
                    <a:lstStyle/>
                    <a:p>
                      <a:pPr indent="0" marL="0">
                        <a:buNone/>
                      </a:pPr>
                      <a:r>
                        <a:rPr lang="en-US" sz="950" b="1" dirty="0">
                          <a:solidFill>
                            <a:srgbClr val="C0392B"/>
                          </a:solidFill>
                        </a:rPr>
                        <a:t>10 ✗</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50" b="1" dirty="0">
                          <a:solidFill>
                            <a:srgbClr val="1A7A4A"/>
                          </a:solidFill>
                        </a:rPr>
                        <a:t>56 ✓</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9" name="Shape 4"/>
          <p:cNvSpPr/>
          <p:nvPr/>
        </p:nvSpPr>
        <p:spPr>
          <a:xfrm>
            <a:off x="5943600" y="2697480"/>
            <a:ext cx="2926080" cy="347472"/>
          </a:xfrm>
          <a:prstGeom prst="rect">
            <a:avLst/>
          </a:prstGeom>
          <a:solidFill>
            <a:srgbClr val="F7F9FA"/>
          </a:solidFill>
          <a:ln w="12700">
            <a:solidFill>
              <a:srgbClr val="E2E8F0"/>
            </a:solidFill>
            <a:prstDash val="solid"/>
          </a:ln>
        </p:spPr>
      </p:sp>
      <p:sp>
        <p:nvSpPr>
          <p:cNvPr id="10" name="Text 5"/>
          <p:cNvSpPr/>
          <p:nvPr/>
        </p:nvSpPr>
        <p:spPr>
          <a:xfrm>
            <a:off x="6035040" y="2761488"/>
            <a:ext cx="2743200" cy="219456"/>
          </a:xfrm>
          <a:prstGeom prst="rect">
            <a:avLst/>
          </a:prstGeom>
          <a:noFill/>
          <a:ln/>
        </p:spPr>
        <p:txBody>
          <a:bodyPr wrap="square" lIns="0" tIns="0" rIns="0" bIns="0" rtlCol="0" anchor="ctr"/>
          <a:lstStyle/>
          <a:p>
            <a:pPr indent="0" marL="0">
              <a:buNone/>
            </a:pPr>
            <a:r>
              <a:rPr lang="en-US" sz="850" dirty="0">
                <a:solidFill>
                  <a:srgbClr val="1A7A4A"/>
                </a:solidFill>
              </a:rPr>
              <a:t>✓ 168  —  Correctly identified non-hotspot cells</a:t>
            </a:r>
            <a:endParaRPr lang="en-US" sz="850" dirty="0"/>
          </a:p>
        </p:txBody>
      </p:sp>
      <p:sp>
        <p:nvSpPr>
          <p:cNvPr id="11" name="Shape 6"/>
          <p:cNvSpPr/>
          <p:nvPr/>
        </p:nvSpPr>
        <p:spPr>
          <a:xfrm>
            <a:off x="5943600" y="3108960"/>
            <a:ext cx="2926080" cy="347472"/>
          </a:xfrm>
          <a:prstGeom prst="rect">
            <a:avLst/>
          </a:prstGeom>
          <a:solidFill>
            <a:srgbClr val="F7F9FA"/>
          </a:solidFill>
          <a:ln w="12700">
            <a:solidFill>
              <a:srgbClr val="E2E8F0"/>
            </a:solidFill>
            <a:prstDash val="solid"/>
          </a:ln>
        </p:spPr>
      </p:sp>
      <p:sp>
        <p:nvSpPr>
          <p:cNvPr id="12" name="Text 7"/>
          <p:cNvSpPr/>
          <p:nvPr/>
        </p:nvSpPr>
        <p:spPr>
          <a:xfrm>
            <a:off x="6035040" y="3172968"/>
            <a:ext cx="2743200" cy="219456"/>
          </a:xfrm>
          <a:prstGeom prst="rect">
            <a:avLst/>
          </a:prstGeom>
          <a:noFill/>
          <a:ln/>
        </p:spPr>
        <p:txBody>
          <a:bodyPr wrap="square" lIns="0" tIns="0" rIns="0" bIns="0" rtlCol="0" anchor="ctr"/>
          <a:lstStyle/>
          <a:p>
            <a:pPr indent="0" marL="0">
              <a:buNone/>
            </a:pPr>
            <a:r>
              <a:rPr lang="en-US" sz="850" dirty="0">
                <a:solidFill>
                  <a:srgbClr val="1A7A4A"/>
                </a:solidFill>
              </a:rPr>
              <a:t>✓ 56  —  Correctly identified hotspot cells</a:t>
            </a:r>
            <a:endParaRPr lang="en-US" sz="850" dirty="0"/>
          </a:p>
        </p:txBody>
      </p:sp>
      <p:sp>
        <p:nvSpPr>
          <p:cNvPr id="13" name="Shape 8"/>
          <p:cNvSpPr/>
          <p:nvPr/>
        </p:nvSpPr>
        <p:spPr>
          <a:xfrm>
            <a:off x="5943600" y="3520440"/>
            <a:ext cx="2926080" cy="347472"/>
          </a:xfrm>
          <a:prstGeom prst="rect">
            <a:avLst/>
          </a:prstGeom>
          <a:solidFill>
            <a:srgbClr val="F7F9FA"/>
          </a:solidFill>
          <a:ln w="12700">
            <a:solidFill>
              <a:srgbClr val="E2E8F0"/>
            </a:solidFill>
            <a:prstDash val="solid"/>
          </a:ln>
        </p:spPr>
      </p:sp>
      <p:sp>
        <p:nvSpPr>
          <p:cNvPr id="14" name="Text 9"/>
          <p:cNvSpPr/>
          <p:nvPr/>
        </p:nvSpPr>
        <p:spPr>
          <a:xfrm>
            <a:off x="6035040" y="3584448"/>
            <a:ext cx="2743200" cy="219456"/>
          </a:xfrm>
          <a:prstGeom prst="rect">
            <a:avLst/>
          </a:prstGeom>
          <a:noFill/>
          <a:ln/>
        </p:spPr>
        <p:txBody>
          <a:bodyPr wrap="square" lIns="0" tIns="0" rIns="0" bIns="0" rtlCol="0" anchor="ctr"/>
          <a:lstStyle/>
          <a:p>
            <a:pPr indent="0" marL="0">
              <a:buNone/>
            </a:pPr>
            <a:r>
              <a:rPr lang="en-US" sz="850" dirty="0">
                <a:solidFill>
                  <a:srgbClr val="C0392B"/>
                </a:solidFill>
              </a:rPr>
              <a:t>✗ 22  —  False alarms (predicted hotspot, was not)</a:t>
            </a:r>
            <a:endParaRPr lang="en-US" sz="850" dirty="0"/>
          </a:p>
        </p:txBody>
      </p:sp>
      <p:sp>
        <p:nvSpPr>
          <p:cNvPr id="15" name="Shape 10"/>
          <p:cNvSpPr/>
          <p:nvPr/>
        </p:nvSpPr>
        <p:spPr>
          <a:xfrm>
            <a:off x="5943600" y="3931920"/>
            <a:ext cx="2926080" cy="347472"/>
          </a:xfrm>
          <a:prstGeom prst="rect">
            <a:avLst/>
          </a:prstGeom>
          <a:solidFill>
            <a:srgbClr val="F7F9FA"/>
          </a:solidFill>
          <a:ln w="12700">
            <a:solidFill>
              <a:srgbClr val="E2E8F0"/>
            </a:solidFill>
            <a:prstDash val="solid"/>
          </a:ln>
        </p:spPr>
      </p:sp>
      <p:sp>
        <p:nvSpPr>
          <p:cNvPr id="16" name="Text 11"/>
          <p:cNvSpPr/>
          <p:nvPr/>
        </p:nvSpPr>
        <p:spPr>
          <a:xfrm>
            <a:off x="6035040" y="3995928"/>
            <a:ext cx="2743200" cy="219456"/>
          </a:xfrm>
          <a:prstGeom prst="rect">
            <a:avLst/>
          </a:prstGeom>
          <a:noFill/>
          <a:ln/>
        </p:spPr>
        <p:txBody>
          <a:bodyPr wrap="square" lIns="0" tIns="0" rIns="0" bIns="0" rtlCol="0" anchor="ctr"/>
          <a:lstStyle/>
          <a:p>
            <a:pPr indent="0" marL="0">
              <a:buNone/>
            </a:pPr>
            <a:r>
              <a:rPr lang="en-US" sz="850" dirty="0">
                <a:solidFill>
                  <a:srgbClr val="C0392B"/>
                </a:solidFill>
              </a:rPr>
              <a:t>✗ 10  —  Missed hotspots (predicted safe, was hotspot)</a:t>
            </a:r>
            <a:endParaRPr lang="en-US" sz="850" dirty="0"/>
          </a:p>
        </p:txBody>
      </p:sp>
      <p:sp>
        <p:nvSpPr>
          <p:cNvPr id="17" name="Text 12"/>
          <p:cNvSpPr/>
          <p:nvPr/>
        </p:nvSpPr>
        <p:spPr>
          <a:xfrm>
            <a:off x="457200" y="4892040"/>
            <a:ext cx="8229600" cy="201168"/>
          </a:xfrm>
          <a:prstGeom prst="rect">
            <a:avLst/>
          </a:prstGeom>
          <a:noFill/>
          <a:ln/>
        </p:spPr>
        <p:txBody>
          <a:bodyPr wrap="square" lIns="0" tIns="0" rIns="0" bIns="0" rtlCol="0" anchor="ctr"/>
          <a:lstStyle/>
          <a:p>
            <a:pPr indent="0" marL="0">
              <a:buNone/>
            </a:pPr>
            <a:r>
              <a:rPr lang="en-US" sz="800" dirty="0">
                <a:solidFill>
                  <a:srgbClr val="64748B"/>
                </a:solidFill>
              </a:rPr>
              <a:t>scikit-learn confusion_matrix(), roc_auc_score()  ·  Test set: 25% stratified split</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0D1F2D"/>
                </a:solidFill>
              </a:rPr>
              <a:t>Understanding Predictions — SHAP Analysis</a:t>
            </a:r>
            <a:endParaRPr lang="en-US" sz="2600" dirty="0"/>
          </a:p>
        </p:txBody>
      </p:sp>
      <p:sp>
        <p:nvSpPr>
          <p:cNvPr id="3" name="Shape 1"/>
          <p:cNvSpPr/>
          <p:nvPr/>
        </p:nvSpPr>
        <p:spPr>
          <a:xfrm>
            <a:off x="457200" y="841248"/>
            <a:ext cx="8229600" cy="36576"/>
          </a:xfrm>
          <a:prstGeom prst="rect">
            <a:avLst/>
          </a:prstGeom>
          <a:solidFill>
            <a:srgbClr val="065A82"/>
          </a:solidFill>
          <a:ln w="12700">
            <a:solidFill>
              <a:srgbClr val="065A82"/>
            </a:solidFill>
            <a:prstDash val="solid"/>
          </a:ln>
        </p:spPr>
      </p:sp>
      <p:sp>
        <p:nvSpPr>
          <p:cNvPr id="4" name="Text 2"/>
          <p:cNvSpPr/>
          <p:nvPr/>
        </p:nvSpPr>
        <p:spPr>
          <a:xfrm>
            <a:off x="457200" y="932688"/>
            <a:ext cx="8229600" cy="320040"/>
          </a:xfrm>
          <a:prstGeom prst="rect">
            <a:avLst/>
          </a:prstGeom>
          <a:noFill/>
          <a:ln/>
        </p:spPr>
        <p:txBody>
          <a:bodyPr wrap="square" lIns="0" tIns="0" rIns="0" bIns="0" rtlCol="0" anchor="ctr"/>
          <a:lstStyle/>
          <a:p>
            <a:pPr indent="0" marL="0">
              <a:buNone/>
            </a:pPr>
            <a:r>
              <a:rPr lang="en-US" sz="1000" i="1" dirty="0">
                <a:solidFill>
                  <a:srgbClr val="2D3748"/>
                </a:solidFill>
              </a:rPr>
              <a:t>SHAP (SHapley Additive exPlanations) shows not just which features matter globally, but WHY the model made each individual prediction.</a:t>
            </a:r>
            <a:endParaRPr lang="en-US" sz="1000" dirty="0"/>
          </a:p>
        </p:txBody>
      </p:sp>
      <p:pic>
        <p:nvPicPr>
          <p:cNvPr id="5" name="Image 0" descr="/mnt/user-data/uploads/20_shap_beeswarm.png">    </p:cNvPr>
          <p:cNvPicPr>
            <a:picLocks noChangeAspect="1"/>
          </p:cNvPicPr>
          <p:nvPr/>
        </p:nvPicPr>
        <p:blipFill>
          <a:blip r:embed="rId1"/>
          <a:stretch>
            <a:fillRect/>
          </a:stretch>
        </p:blipFill>
        <p:spPr>
          <a:xfrm>
            <a:off x="457200" y="1298448"/>
            <a:ext cx="4114800" cy="3291840"/>
          </a:xfrm>
          <a:prstGeom prst="rect">
            <a:avLst/>
          </a:prstGeom>
        </p:spPr>
      </p:pic>
      <p:pic>
        <p:nvPicPr>
          <p:cNvPr id="6" name="Image 1" descr="/mnt/user-data/uploads/21_shap_waterfall.png">    </p:cNvPr>
          <p:cNvPicPr>
            <a:picLocks noChangeAspect="1"/>
          </p:cNvPicPr>
          <p:nvPr/>
        </p:nvPicPr>
        <p:blipFill>
          <a:blip r:embed="rId2"/>
          <a:stretch>
            <a:fillRect/>
          </a:stretch>
        </p:blipFill>
        <p:spPr>
          <a:xfrm>
            <a:off x="4754880" y="1298448"/>
            <a:ext cx="4114800" cy="3291840"/>
          </a:xfrm>
          <a:prstGeom prst="rect">
            <a:avLst/>
          </a:prstGeom>
        </p:spPr>
      </p:pic>
      <p:sp>
        <p:nvSpPr>
          <p:cNvPr id="7" name="Text 3"/>
          <p:cNvSpPr/>
          <p:nvPr/>
        </p:nvSpPr>
        <p:spPr>
          <a:xfrm>
            <a:off x="457200" y="4663440"/>
            <a:ext cx="4114800" cy="201168"/>
          </a:xfrm>
          <a:prstGeom prst="rect">
            <a:avLst/>
          </a:prstGeom>
          <a:noFill/>
          <a:ln/>
        </p:spPr>
        <p:txBody>
          <a:bodyPr wrap="square" lIns="0" tIns="0" rIns="0" bIns="0" rtlCol="0" anchor="ctr"/>
          <a:lstStyle/>
          <a:p>
            <a:pPr indent="0" marL="0">
              <a:buNone/>
            </a:pPr>
            <a:r>
              <a:rPr lang="en-US" sz="750" dirty="0">
                <a:solidFill>
                  <a:srgbClr val="64748B"/>
                </a:solidFill>
              </a:rPr>
              <a:t>Left: Red dots = high feature value, Blue = low value. Right side of x-axis = pushed prediction toward hotspot.</a:t>
            </a:r>
            <a:endParaRPr lang="en-US" sz="750" dirty="0"/>
          </a:p>
        </p:txBody>
      </p:sp>
      <p:sp>
        <p:nvSpPr>
          <p:cNvPr id="8" name="Text 4"/>
          <p:cNvSpPr/>
          <p:nvPr/>
        </p:nvSpPr>
        <p:spPr>
          <a:xfrm>
            <a:off x="4754880" y="4663440"/>
            <a:ext cx="4114800" cy="201168"/>
          </a:xfrm>
          <a:prstGeom prst="rect">
            <a:avLst/>
          </a:prstGeom>
          <a:noFill/>
          <a:ln/>
        </p:spPr>
        <p:txBody>
          <a:bodyPr wrap="square" lIns="0" tIns="0" rIns="0" bIns="0" rtlCol="0" anchor="ctr"/>
          <a:lstStyle/>
          <a:p>
            <a:pPr indent="0" marL="0">
              <a:buNone/>
            </a:pPr>
            <a:r>
              <a:rPr lang="en-US" sz="750" dirty="0">
                <a:solidFill>
                  <a:srgbClr val="64748B"/>
                </a:solidFill>
              </a:rPr>
              <a:t>Right: Bars show how each feature pushed the prediction for the cell with highest hotspot probability (P=0.981).</a:t>
            </a:r>
            <a:endParaRPr lang="en-US" sz="750" dirty="0"/>
          </a:p>
        </p:txBody>
      </p:sp>
      <p:sp>
        <p:nvSpPr>
          <p:cNvPr id="9" name="Text 5"/>
          <p:cNvSpPr/>
          <p:nvPr/>
        </p:nvSpPr>
        <p:spPr>
          <a:xfrm>
            <a:off x="457200" y="4892040"/>
            <a:ext cx="8229600" cy="201168"/>
          </a:xfrm>
          <a:prstGeom prst="rect">
            <a:avLst/>
          </a:prstGeom>
          <a:noFill/>
          <a:ln/>
        </p:spPr>
        <p:txBody>
          <a:bodyPr wrap="square" lIns="0" tIns="0" rIns="0" bIns="0" rtlCol="0" anchor="ctr"/>
          <a:lstStyle/>
          <a:p>
            <a:pPr indent="0" marL="0">
              <a:buNone/>
            </a:pPr>
            <a:r>
              <a:rPr lang="en-US" sz="800" dirty="0">
                <a:solidFill>
                  <a:srgbClr val="64748B"/>
                </a:solidFill>
              </a:rPr>
              <a:t>SHAP library (Lundberg &amp; Lee, 2017)  ·  TreeExplainer applied to Random Forest</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0D1F2D"/>
                </a:solidFill>
              </a:rPr>
              <a:t>Predicted Hotspot Map — Random Forest</a:t>
            </a:r>
            <a:endParaRPr lang="en-US" sz="2600" dirty="0"/>
          </a:p>
        </p:txBody>
      </p:sp>
      <p:sp>
        <p:nvSpPr>
          <p:cNvPr id="3" name="Shape 1"/>
          <p:cNvSpPr/>
          <p:nvPr/>
        </p:nvSpPr>
        <p:spPr>
          <a:xfrm>
            <a:off x="457200" y="841248"/>
            <a:ext cx="8229600" cy="36576"/>
          </a:xfrm>
          <a:prstGeom prst="rect">
            <a:avLst/>
          </a:prstGeom>
          <a:solidFill>
            <a:srgbClr val="C0392B"/>
          </a:solidFill>
          <a:ln w="12700">
            <a:solidFill>
              <a:srgbClr val="C0392B"/>
            </a:solidFill>
            <a:prstDash val="solid"/>
          </a:ln>
        </p:spPr>
      </p:sp>
      <p:pic>
        <p:nvPicPr>
          <p:cNvPr id="4" name="Image 0" descr="/mnt/user-data/uploads/22_actual_vs_predicted.png">    </p:cNvPr>
          <p:cNvPicPr>
            <a:picLocks noChangeAspect="1"/>
          </p:cNvPicPr>
          <p:nvPr/>
        </p:nvPicPr>
        <p:blipFill>
          <a:blip r:embed="rId1"/>
          <a:stretch>
            <a:fillRect/>
          </a:stretch>
        </p:blipFill>
        <p:spPr>
          <a:xfrm>
            <a:off x="457200" y="960120"/>
            <a:ext cx="8229600" cy="3520440"/>
          </a:xfrm>
          <a:prstGeom prst="rect">
            <a:avLst/>
          </a:prstGeom>
        </p:spPr>
      </p:pic>
      <p:sp>
        <p:nvSpPr>
          <p:cNvPr id="5" name="Shape 2"/>
          <p:cNvSpPr/>
          <p:nvPr/>
        </p:nvSpPr>
        <p:spPr>
          <a:xfrm>
            <a:off x="457200" y="4553712"/>
            <a:ext cx="274320" cy="256032"/>
          </a:xfrm>
          <a:prstGeom prst="rect">
            <a:avLst/>
          </a:prstGeom>
          <a:solidFill>
            <a:srgbClr val="C0392B"/>
          </a:solidFill>
          <a:ln w="12700">
            <a:solidFill>
              <a:srgbClr val="64748B"/>
            </a:solidFill>
            <a:prstDash val="solid"/>
          </a:ln>
        </p:spPr>
      </p:sp>
      <p:sp>
        <p:nvSpPr>
          <p:cNvPr id="6" name="Text 3"/>
          <p:cNvSpPr/>
          <p:nvPr/>
        </p:nvSpPr>
        <p:spPr>
          <a:xfrm>
            <a:off x="804672" y="4553712"/>
            <a:ext cx="3566160" cy="256032"/>
          </a:xfrm>
          <a:prstGeom prst="rect">
            <a:avLst/>
          </a:prstGeom>
          <a:noFill/>
          <a:ln/>
        </p:spPr>
        <p:txBody>
          <a:bodyPr wrap="square" lIns="0" tIns="0" rIns="0" bIns="0" rtlCol="0" anchor="ctr"/>
          <a:lstStyle/>
          <a:p>
            <a:pPr indent="0" marL="0">
              <a:buNone/>
            </a:pPr>
            <a:r>
              <a:rPr lang="en-US" sz="900" dirty="0">
                <a:solidFill>
                  <a:srgbClr val="2D3748"/>
                </a:solidFill>
              </a:rPr>
              <a:t>Hotspot (1) — ≥24 future vehicle crimes per cell</a:t>
            </a:r>
            <a:endParaRPr lang="en-US" sz="900" dirty="0"/>
          </a:p>
        </p:txBody>
      </p:sp>
      <p:sp>
        <p:nvSpPr>
          <p:cNvPr id="7" name="Shape 4"/>
          <p:cNvSpPr/>
          <p:nvPr/>
        </p:nvSpPr>
        <p:spPr>
          <a:xfrm>
            <a:off x="4572000" y="4553712"/>
            <a:ext cx="274320" cy="256032"/>
          </a:xfrm>
          <a:prstGeom prst="rect">
            <a:avLst/>
          </a:prstGeom>
          <a:solidFill>
            <a:srgbClr val="DFE6E9"/>
          </a:solidFill>
          <a:ln w="12700">
            <a:solidFill>
              <a:srgbClr val="64748B"/>
            </a:solidFill>
            <a:prstDash val="solid"/>
          </a:ln>
        </p:spPr>
      </p:sp>
      <p:sp>
        <p:nvSpPr>
          <p:cNvPr id="8" name="Text 5"/>
          <p:cNvSpPr/>
          <p:nvPr/>
        </p:nvSpPr>
        <p:spPr>
          <a:xfrm>
            <a:off x="4919472" y="4553712"/>
            <a:ext cx="3566160" cy="256032"/>
          </a:xfrm>
          <a:prstGeom prst="rect">
            <a:avLst/>
          </a:prstGeom>
          <a:noFill/>
          <a:ln/>
        </p:spPr>
        <p:txBody>
          <a:bodyPr wrap="square" lIns="0" tIns="0" rIns="0" bIns="0" rtlCol="0" anchor="ctr"/>
          <a:lstStyle/>
          <a:p>
            <a:pPr indent="0" marL="0">
              <a:buNone/>
            </a:pPr>
            <a:r>
              <a:rPr lang="en-US" sz="900" dirty="0">
                <a:solidFill>
                  <a:srgbClr val="2D3748"/>
                </a:solidFill>
              </a:rPr>
              <a:t>Non-Hotspot (0) — fewer than 24 future crimes</a:t>
            </a:r>
            <a:endParaRPr lang="en-US" sz="900" dirty="0"/>
          </a:p>
        </p:txBody>
      </p:sp>
      <p:sp>
        <p:nvSpPr>
          <p:cNvPr id="9" name="Text 6"/>
          <p:cNvSpPr/>
          <p:nvPr/>
        </p:nvSpPr>
        <p:spPr>
          <a:xfrm>
            <a:off x="457200" y="4892040"/>
            <a:ext cx="8229600" cy="201168"/>
          </a:xfrm>
          <a:prstGeom prst="rect">
            <a:avLst/>
          </a:prstGeom>
          <a:noFill/>
          <a:ln/>
        </p:spPr>
        <p:txBody>
          <a:bodyPr wrap="square" lIns="0" tIns="0" rIns="0" bIns="0" rtlCol="0" anchor="ctr"/>
          <a:lstStyle/>
          <a:p>
            <a:pPr indent="0" marL="0">
              <a:buNone/>
            </a:pPr>
            <a:r>
              <a:rPr lang="en-US" sz="800" dirty="0">
                <a:solidFill>
                  <a:srgbClr val="64748B"/>
                </a:solidFill>
              </a:rPr>
              <a:t>Source: Random Forest predictions on all 1,022 grid cells  ·  Training: 2015–2021  ·  Target: 2022–2024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6400800" cy="502920"/>
          </a:xfrm>
          <a:prstGeom prst="rect">
            <a:avLst/>
          </a:prstGeom>
          <a:noFill/>
          <a:ln/>
        </p:spPr>
        <p:txBody>
          <a:bodyPr wrap="square" lIns="0" tIns="0" rIns="0" bIns="0" rtlCol="0" anchor="ctr"/>
          <a:lstStyle/>
          <a:p>
            <a:pPr indent="0" marL="0">
              <a:buNone/>
            </a:pPr>
            <a:r>
              <a:rPr lang="en-US" sz="2600" b="1" dirty="0">
                <a:solidFill>
                  <a:srgbClr val="0D1F2D"/>
                </a:solidFill>
              </a:rPr>
              <a:t>Vehicle Crime Risk Probability Map</a:t>
            </a:r>
            <a:endParaRPr lang="en-US" sz="2600" dirty="0"/>
          </a:p>
        </p:txBody>
      </p:sp>
      <p:sp>
        <p:nvSpPr>
          <p:cNvPr id="3" name="Shape 1"/>
          <p:cNvSpPr/>
          <p:nvPr/>
        </p:nvSpPr>
        <p:spPr>
          <a:xfrm>
            <a:off x="457200" y="841248"/>
            <a:ext cx="8229600" cy="36576"/>
          </a:xfrm>
          <a:prstGeom prst="rect">
            <a:avLst/>
          </a:prstGeom>
          <a:solidFill>
            <a:srgbClr val="C0392B"/>
          </a:solidFill>
          <a:ln w="12700">
            <a:solidFill>
              <a:srgbClr val="C0392B"/>
            </a:solidFill>
            <a:prstDash val="solid"/>
          </a:ln>
        </p:spPr>
      </p:sp>
      <p:pic>
        <p:nvPicPr>
          <p:cNvPr id="4" name="Image 0" descr="/mnt/user-data/uploads/23_probability_map.png">    </p:cNvPr>
          <p:cNvPicPr>
            <a:picLocks noChangeAspect="1"/>
          </p:cNvPicPr>
          <p:nvPr/>
        </p:nvPicPr>
        <p:blipFill>
          <a:blip r:embed="rId1"/>
          <a:stretch>
            <a:fillRect/>
          </a:stretch>
        </p:blipFill>
        <p:spPr>
          <a:xfrm>
            <a:off x="457200" y="960120"/>
            <a:ext cx="5486400" cy="3931920"/>
          </a:xfrm>
          <a:prstGeom prst="rect">
            <a:avLst/>
          </a:prstGeom>
        </p:spPr>
      </p:pic>
      <p:sp>
        <p:nvSpPr>
          <p:cNvPr id="5" name="Shape 2"/>
          <p:cNvSpPr/>
          <p:nvPr/>
        </p:nvSpPr>
        <p:spPr>
          <a:xfrm>
            <a:off x="6126480" y="960120"/>
            <a:ext cx="2743200" cy="347472"/>
          </a:xfrm>
          <a:prstGeom prst="rect">
            <a:avLst/>
          </a:prstGeom>
          <a:solidFill>
            <a:srgbClr val="0D1F2D"/>
          </a:solidFill>
          <a:ln w="12700">
            <a:solidFill>
              <a:srgbClr val="0D1F2D"/>
            </a:solidFill>
            <a:prstDash val="solid"/>
          </a:ln>
        </p:spPr>
      </p:sp>
      <p:sp>
        <p:nvSpPr>
          <p:cNvPr id="6" name="Text 3"/>
          <p:cNvSpPr/>
          <p:nvPr/>
        </p:nvSpPr>
        <p:spPr>
          <a:xfrm>
            <a:off x="6172200" y="1005840"/>
            <a:ext cx="2651760" cy="237744"/>
          </a:xfrm>
          <a:prstGeom prst="rect">
            <a:avLst/>
          </a:prstGeom>
          <a:noFill/>
          <a:ln/>
        </p:spPr>
        <p:txBody>
          <a:bodyPr wrap="square" lIns="0" tIns="0" rIns="0" bIns="0" rtlCol="0" anchor="ctr"/>
          <a:lstStyle/>
          <a:p>
            <a:pPr indent="0" marL="0">
              <a:buNone/>
            </a:pPr>
            <a:r>
              <a:rPr lang="en-US" sz="1000" b="1" dirty="0">
                <a:solidFill>
                  <a:srgbClr val="FFFFFF"/>
                </a:solidFill>
              </a:rPr>
              <a:t>Confidence Levels</a:t>
            </a:r>
            <a:endParaRPr lang="en-US" sz="1000" dirty="0"/>
          </a:p>
        </p:txBody>
      </p:sp>
      <p:sp>
        <p:nvSpPr>
          <p:cNvPr id="7" name="Shape 4"/>
          <p:cNvSpPr/>
          <p:nvPr/>
        </p:nvSpPr>
        <p:spPr>
          <a:xfrm>
            <a:off x="6126480" y="1389888"/>
            <a:ext cx="2743200" cy="658368"/>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8" name="Shape 5"/>
          <p:cNvSpPr/>
          <p:nvPr/>
        </p:nvSpPr>
        <p:spPr>
          <a:xfrm>
            <a:off x="6126480" y="1389888"/>
            <a:ext cx="64008" cy="658368"/>
          </a:xfrm>
          <a:prstGeom prst="rect">
            <a:avLst/>
          </a:prstGeom>
          <a:solidFill>
            <a:srgbClr val="C0392B"/>
          </a:solidFill>
          <a:ln w="12700">
            <a:solidFill>
              <a:srgbClr val="C0392B"/>
            </a:solidFill>
            <a:prstDash val="solid"/>
          </a:ln>
        </p:spPr>
      </p:sp>
      <p:sp>
        <p:nvSpPr>
          <p:cNvPr id="9" name="Text 6"/>
          <p:cNvSpPr/>
          <p:nvPr/>
        </p:nvSpPr>
        <p:spPr>
          <a:xfrm>
            <a:off x="6245352" y="1435608"/>
            <a:ext cx="2560320" cy="228600"/>
          </a:xfrm>
          <a:prstGeom prst="rect">
            <a:avLst/>
          </a:prstGeom>
          <a:noFill/>
          <a:ln/>
        </p:spPr>
        <p:txBody>
          <a:bodyPr wrap="square" lIns="0" tIns="0" rIns="0" bIns="0" rtlCol="0" anchor="ctr"/>
          <a:lstStyle/>
          <a:p>
            <a:pPr indent="0" marL="0">
              <a:buNone/>
            </a:pPr>
            <a:r>
              <a:rPr lang="en-US" sz="1000" b="1" dirty="0">
                <a:solidFill>
                  <a:srgbClr val="0D1F2D"/>
                </a:solidFill>
              </a:rPr>
              <a:t>P &gt; 0.8</a:t>
            </a:r>
            <a:endParaRPr lang="en-US" sz="1000" dirty="0"/>
          </a:p>
        </p:txBody>
      </p:sp>
      <p:sp>
        <p:nvSpPr>
          <p:cNvPr id="10" name="Text 7"/>
          <p:cNvSpPr/>
          <p:nvPr/>
        </p:nvSpPr>
        <p:spPr>
          <a:xfrm>
            <a:off x="6245352" y="1664208"/>
            <a:ext cx="2560320" cy="347472"/>
          </a:xfrm>
          <a:prstGeom prst="rect">
            <a:avLst/>
          </a:prstGeom>
          <a:noFill/>
          <a:ln/>
        </p:spPr>
        <p:txBody>
          <a:bodyPr wrap="square" lIns="0" tIns="0" rIns="0" bIns="0" rtlCol="0" anchor="ctr"/>
          <a:lstStyle/>
          <a:p>
            <a:pPr indent="0" marL="0">
              <a:buNone/>
            </a:pPr>
            <a:r>
              <a:rPr lang="en-US" sz="850" dirty="0">
                <a:solidFill>
                  <a:srgbClr val="2D3748"/>
                </a:solidFill>
              </a:rPr>
              <a:t>High confidence hotspot</a:t>
            </a:r>
            <a:endParaRPr lang="en-US" sz="850" dirty="0"/>
          </a:p>
          <a:p>
            <a:pPr indent="0" marL="0">
              <a:buNone/>
            </a:pPr>
            <a:r>
              <a:rPr lang="en-US" sz="850" dirty="0">
                <a:solidFill>
                  <a:srgbClr val="2D3748"/>
                </a:solidFill>
              </a:rPr>
              <a:t>Prioritize for intervention</a:t>
            </a:r>
            <a:endParaRPr lang="en-US" sz="850" dirty="0"/>
          </a:p>
        </p:txBody>
      </p:sp>
      <p:sp>
        <p:nvSpPr>
          <p:cNvPr id="11" name="Shape 8"/>
          <p:cNvSpPr/>
          <p:nvPr/>
        </p:nvSpPr>
        <p:spPr>
          <a:xfrm>
            <a:off x="6126480" y="2139696"/>
            <a:ext cx="2743200" cy="658368"/>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9"/>
          <p:cNvSpPr/>
          <p:nvPr/>
        </p:nvSpPr>
        <p:spPr>
          <a:xfrm>
            <a:off x="6126480" y="2139696"/>
            <a:ext cx="64008" cy="658368"/>
          </a:xfrm>
          <a:prstGeom prst="rect">
            <a:avLst/>
          </a:prstGeom>
          <a:solidFill>
            <a:srgbClr val="E67E22"/>
          </a:solidFill>
          <a:ln w="12700">
            <a:solidFill>
              <a:srgbClr val="E67E22"/>
            </a:solidFill>
            <a:prstDash val="solid"/>
          </a:ln>
        </p:spPr>
      </p:sp>
      <p:sp>
        <p:nvSpPr>
          <p:cNvPr id="13" name="Text 10"/>
          <p:cNvSpPr/>
          <p:nvPr/>
        </p:nvSpPr>
        <p:spPr>
          <a:xfrm>
            <a:off x="6245352" y="2185416"/>
            <a:ext cx="2560320" cy="228600"/>
          </a:xfrm>
          <a:prstGeom prst="rect">
            <a:avLst/>
          </a:prstGeom>
          <a:noFill/>
          <a:ln/>
        </p:spPr>
        <p:txBody>
          <a:bodyPr wrap="square" lIns="0" tIns="0" rIns="0" bIns="0" rtlCol="0" anchor="ctr"/>
          <a:lstStyle/>
          <a:p>
            <a:pPr indent="0" marL="0">
              <a:buNone/>
            </a:pPr>
            <a:r>
              <a:rPr lang="en-US" sz="1000" b="1" dirty="0">
                <a:solidFill>
                  <a:srgbClr val="0D1F2D"/>
                </a:solidFill>
              </a:rPr>
              <a:t>P 0.5 – 0.8</a:t>
            </a:r>
            <a:endParaRPr lang="en-US" sz="1000" dirty="0"/>
          </a:p>
        </p:txBody>
      </p:sp>
      <p:sp>
        <p:nvSpPr>
          <p:cNvPr id="14" name="Text 11"/>
          <p:cNvSpPr/>
          <p:nvPr/>
        </p:nvSpPr>
        <p:spPr>
          <a:xfrm>
            <a:off x="6245352" y="2414016"/>
            <a:ext cx="2560320" cy="347472"/>
          </a:xfrm>
          <a:prstGeom prst="rect">
            <a:avLst/>
          </a:prstGeom>
          <a:noFill/>
          <a:ln/>
        </p:spPr>
        <p:txBody>
          <a:bodyPr wrap="square" lIns="0" tIns="0" rIns="0" bIns="0" rtlCol="0" anchor="ctr"/>
          <a:lstStyle/>
          <a:p>
            <a:pPr indent="0" marL="0">
              <a:buNone/>
            </a:pPr>
            <a:r>
              <a:rPr lang="en-US" sz="850" dirty="0">
                <a:solidFill>
                  <a:srgbClr val="2D3748"/>
                </a:solidFill>
              </a:rPr>
              <a:t>Likely hotspot</a:t>
            </a:r>
            <a:endParaRPr lang="en-US" sz="850" dirty="0"/>
          </a:p>
          <a:p>
            <a:pPr indent="0" marL="0">
              <a:buNone/>
            </a:pPr>
            <a:r>
              <a:rPr lang="en-US" sz="850" dirty="0">
                <a:solidFill>
                  <a:srgbClr val="2D3748"/>
                </a:solidFill>
              </a:rPr>
              <a:t>Monitor closely</a:t>
            </a:r>
            <a:endParaRPr lang="en-US" sz="850" dirty="0"/>
          </a:p>
        </p:txBody>
      </p:sp>
      <p:sp>
        <p:nvSpPr>
          <p:cNvPr id="15" name="Shape 12"/>
          <p:cNvSpPr/>
          <p:nvPr/>
        </p:nvSpPr>
        <p:spPr>
          <a:xfrm>
            <a:off x="6126480" y="2889504"/>
            <a:ext cx="2743200" cy="658368"/>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Shape 13"/>
          <p:cNvSpPr/>
          <p:nvPr/>
        </p:nvSpPr>
        <p:spPr>
          <a:xfrm>
            <a:off x="6126480" y="2889504"/>
            <a:ext cx="64008" cy="658368"/>
          </a:xfrm>
          <a:prstGeom prst="rect">
            <a:avLst/>
          </a:prstGeom>
          <a:solidFill>
            <a:srgbClr val="1C7293"/>
          </a:solidFill>
          <a:ln w="12700">
            <a:solidFill>
              <a:srgbClr val="1C7293"/>
            </a:solidFill>
            <a:prstDash val="solid"/>
          </a:ln>
        </p:spPr>
      </p:sp>
      <p:sp>
        <p:nvSpPr>
          <p:cNvPr id="17" name="Text 14"/>
          <p:cNvSpPr/>
          <p:nvPr/>
        </p:nvSpPr>
        <p:spPr>
          <a:xfrm>
            <a:off x="6245352" y="2935224"/>
            <a:ext cx="2560320" cy="228600"/>
          </a:xfrm>
          <a:prstGeom prst="rect">
            <a:avLst/>
          </a:prstGeom>
          <a:noFill/>
          <a:ln/>
        </p:spPr>
        <p:txBody>
          <a:bodyPr wrap="square" lIns="0" tIns="0" rIns="0" bIns="0" rtlCol="0" anchor="ctr"/>
          <a:lstStyle/>
          <a:p>
            <a:pPr indent="0" marL="0">
              <a:buNone/>
            </a:pPr>
            <a:r>
              <a:rPr lang="en-US" sz="1000" b="1" dirty="0">
                <a:solidFill>
                  <a:srgbClr val="0D1F2D"/>
                </a:solidFill>
              </a:rPr>
              <a:t>P 0.2 – 0.5</a:t>
            </a:r>
            <a:endParaRPr lang="en-US" sz="1000" dirty="0"/>
          </a:p>
        </p:txBody>
      </p:sp>
      <p:sp>
        <p:nvSpPr>
          <p:cNvPr id="18" name="Text 15"/>
          <p:cNvSpPr/>
          <p:nvPr/>
        </p:nvSpPr>
        <p:spPr>
          <a:xfrm>
            <a:off x="6245352" y="3163824"/>
            <a:ext cx="2560320" cy="347472"/>
          </a:xfrm>
          <a:prstGeom prst="rect">
            <a:avLst/>
          </a:prstGeom>
          <a:noFill/>
          <a:ln/>
        </p:spPr>
        <p:txBody>
          <a:bodyPr wrap="square" lIns="0" tIns="0" rIns="0" bIns="0" rtlCol="0" anchor="ctr"/>
          <a:lstStyle/>
          <a:p>
            <a:pPr indent="0" marL="0">
              <a:buNone/>
            </a:pPr>
            <a:r>
              <a:rPr lang="en-US" sz="850" dirty="0">
                <a:solidFill>
                  <a:srgbClr val="2D3748"/>
                </a:solidFill>
              </a:rPr>
              <a:t>Possible risk area</a:t>
            </a:r>
            <a:endParaRPr lang="en-US" sz="850" dirty="0"/>
          </a:p>
          <a:p>
            <a:pPr indent="0" marL="0">
              <a:buNone/>
            </a:pPr>
            <a:r>
              <a:rPr lang="en-US" sz="850" dirty="0">
                <a:solidFill>
                  <a:srgbClr val="2D3748"/>
                </a:solidFill>
              </a:rPr>
              <a:t>Watch for emerging patterns</a:t>
            </a:r>
            <a:endParaRPr lang="en-US" sz="850" dirty="0"/>
          </a:p>
        </p:txBody>
      </p:sp>
      <p:sp>
        <p:nvSpPr>
          <p:cNvPr id="19" name="Shape 16"/>
          <p:cNvSpPr/>
          <p:nvPr/>
        </p:nvSpPr>
        <p:spPr>
          <a:xfrm>
            <a:off x="6126480" y="3639312"/>
            <a:ext cx="2743200" cy="658368"/>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Shape 17"/>
          <p:cNvSpPr/>
          <p:nvPr/>
        </p:nvSpPr>
        <p:spPr>
          <a:xfrm>
            <a:off x="6126480" y="3639312"/>
            <a:ext cx="64008" cy="658368"/>
          </a:xfrm>
          <a:prstGeom prst="rect">
            <a:avLst/>
          </a:prstGeom>
          <a:solidFill>
            <a:srgbClr val="1A7A4A"/>
          </a:solidFill>
          <a:ln w="12700">
            <a:solidFill>
              <a:srgbClr val="1A7A4A"/>
            </a:solidFill>
            <a:prstDash val="solid"/>
          </a:ln>
        </p:spPr>
      </p:sp>
      <p:sp>
        <p:nvSpPr>
          <p:cNvPr id="21" name="Text 18"/>
          <p:cNvSpPr/>
          <p:nvPr/>
        </p:nvSpPr>
        <p:spPr>
          <a:xfrm>
            <a:off x="6245352" y="3685032"/>
            <a:ext cx="2560320" cy="228600"/>
          </a:xfrm>
          <a:prstGeom prst="rect">
            <a:avLst/>
          </a:prstGeom>
          <a:noFill/>
          <a:ln/>
        </p:spPr>
        <p:txBody>
          <a:bodyPr wrap="square" lIns="0" tIns="0" rIns="0" bIns="0" rtlCol="0" anchor="ctr"/>
          <a:lstStyle/>
          <a:p>
            <a:pPr indent="0" marL="0">
              <a:buNone/>
            </a:pPr>
            <a:r>
              <a:rPr lang="en-US" sz="1000" b="1" dirty="0">
                <a:solidFill>
                  <a:srgbClr val="0D1F2D"/>
                </a:solidFill>
              </a:rPr>
              <a:t>P &lt; 0.2</a:t>
            </a:r>
            <a:endParaRPr lang="en-US" sz="1000" dirty="0"/>
          </a:p>
        </p:txBody>
      </p:sp>
      <p:sp>
        <p:nvSpPr>
          <p:cNvPr id="22" name="Text 19"/>
          <p:cNvSpPr/>
          <p:nvPr/>
        </p:nvSpPr>
        <p:spPr>
          <a:xfrm>
            <a:off x="6245352" y="3913632"/>
            <a:ext cx="2560320" cy="347472"/>
          </a:xfrm>
          <a:prstGeom prst="rect">
            <a:avLst/>
          </a:prstGeom>
          <a:noFill/>
          <a:ln/>
        </p:spPr>
        <p:txBody>
          <a:bodyPr wrap="square" lIns="0" tIns="0" rIns="0" bIns="0" rtlCol="0" anchor="ctr"/>
          <a:lstStyle/>
          <a:p>
            <a:pPr indent="0" marL="0">
              <a:buNone/>
            </a:pPr>
            <a:r>
              <a:rPr lang="en-US" sz="850" dirty="0">
                <a:solidFill>
                  <a:srgbClr val="2D3748"/>
                </a:solidFill>
              </a:rPr>
              <a:t>Low risk</a:t>
            </a:r>
            <a:endParaRPr lang="en-US" sz="850" dirty="0"/>
          </a:p>
          <a:p>
            <a:pPr indent="0" marL="0">
              <a:buNone/>
            </a:pPr>
            <a:r>
              <a:rPr lang="en-US" sz="850" dirty="0">
                <a:solidFill>
                  <a:srgbClr val="2D3748"/>
                </a:solidFill>
              </a:rPr>
              <a:t>Likely safe area</a:t>
            </a:r>
            <a:endParaRPr lang="en-US" sz="850" dirty="0"/>
          </a:p>
        </p:txBody>
      </p:sp>
      <p:sp>
        <p:nvSpPr>
          <p:cNvPr id="23" name="Text 20"/>
          <p:cNvSpPr/>
          <p:nvPr/>
        </p:nvSpPr>
        <p:spPr>
          <a:xfrm>
            <a:off x="457200" y="4892040"/>
            <a:ext cx="8229600" cy="201168"/>
          </a:xfrm>
          <a:prstGeom prst="rect">
            <a:avLst/>
          </a:prstGeom>
          <a:noFill/>
          <a:ln/>
        </p:spPr>
        <p:txBody>
          <a:bodyPr wrap="square" lIns="0" tIns="0" rIns="0" bIns="0" rtlCol="0" anchor="ctr"/>
          <a:lstStyle/>
          <a:p>
            <a:pPr indent="0" marL="0">
              <a:buNone/>
            </a:pPr>
            <a:r>
              <a:rPr lang="en-US" sz="800" dirty="0">
                <a:solidFill>
                  <a:srgbClr val="64748B"/>
                </a:solidFill>
              </a:rPr>
              <a:t>Random Forest predict_proba()  ·  Continuous risk score 0.0–1.0 per 500m grid cell  ·  Red = highest risk</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D1F2D"/>
                </a:solidFill>
              </a:rPr>
              <a:t>Key Findings</a:t>
            </a:r>
            <a:endParaRPr lang="en-US" sz="2800" dirty="0"/>
          </a:p>
        </p:txBody>
      </p:sp>
      <p:sp>
        <p:nvSpPr>
          <p:cNvPr id="3" name="Shape 1"/>
          <p:cNvSpPr/>
          <p:nvPr/>
        </p:nvSpPr>
        <p:spPr>
          <a:xfrm>
            <a:off x="457200" y="841248"/>
            <a:ext cx="8229600" cy="36576"/>
          </a:xfrm>
          <a:prstGeom prst="rect">
            <a:avLst/>
          </a:prstGeom>
          <a:solidFill>
            <a:srgbClr val="065A82"/>
          </a:solidFill>
          <a:ln w="12700">
            <a:solidFill>
              <a:srgbClr val="065A82"/>
            </a:solidFill>
            <a:prstDash val="solid"/>
          </a:ln>
        </p:spPr>
      </p:sp>
      <p:sp>
        <p:nvSpPr>
          <p:cNvPr id="4" name="Shape 2"/>
          <p:cNvSpPr/>
          <p:nvPr/>
        </p:nvSpPr>
        <p:spPr>
          <a:xfrm>
            <a:off x="457200" y="1005840"/>
            <a:ext cx="3977640" cy="1737360"/>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457200" y="1005840"/>
            <a:ext cx="384048" cy="1737360"/>
          </a:xfrm>
          <a:prstGeom prst="rect">
            <a:avLst/>
          </a:prstGeom>
          <a:solidFill>
            <a:srgbClr val="C0392B"/>
          </a:solidFill>
          <a:ln w="12700">
            <a:solidFill>
              <a:srgbClr val="C0392B"/>
            </a:solidFill>
            <a:prstDash val="solid"/>
          </a:ln>
        </p:spPr>
      </p:sp>
      <p:sp>
        <p:nvSpPr>
          <p:cNvPr id="6" name="Text 4"/>
          <p:cNvSpPr/>
          <p:nvPr/>
        </p:nvSpPr>
        <p:spPr>
          <a:xfrm>
            <a:off x="530352" y="1078992"/>
            <a:ext cx="256032" cy="320040"/>
          </a:xfrm>
          <a:prstGeom prst="rect">
            <a:avLst/>
          </a:prstGeom>
          <a:no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7" name="Text 5"/>
          <p:cNvSpPr/>
          <p:nvPr/>
        </p:nvSpPr>
        <p:spPr>
          <a:xfrm>
            <a:off x="960120" y="1078992"/>
            <a:ext cx="3383280" cy="347472"/>
          </a:xfrm>
          <a:prstGeom prst="rect">
            <a:avLst/>
          </a:prstGeom>
          <a:noFill/>
          <a:ln/>
        </p:spPr>
        <p:txBody>
          <a:bodyPr wrap="square" lIns="0" tIns="0" rIns="0" bIns="0" rtlCol="0" anchor="ctr"/>
          <a:lstStyle/>
          <a:p>
            <a:pPr indent="0" marL="0">
              <a:buNone/>
            </a:pPr>
            <a:r>
              <a:rPr lang="en-US" sz="1100" b="1" dirty="0">
                <a:solidFill>
                  <a:srgbClr val="0D1F2D"/>
                </a:solidFill>
              </a:rPr>
              <a:t>Crime Hotspots Persist Over Time</a:t>
            </a:r>
            <a:endParaRPr lang="en-US" sz="1100" dirty="0"/>
          </a:p>
        </p:txBody>
      </p:sp>
      <p:sp>
        <p:nvSpPr>
          <p:cNvPr id="8" name="Text 6"/>
          <p:cNvSpPr/>
          <p:nvPr/>
        </p:nvSpPr>
        <p:spPr>
          <a:xfrm>
            <a:off x="960120" y="1463040"/>
            <a:ext cx="3383280" cy="1188720"/>
          </a:xfrm>
          <a:prstGeom prst="rect">
            <a:avLst/>
          </a:prstGeom>
          <a:noFill/>
          <a:ln/>
        </p:spPr>
        <p:txBody>
          <a:bodyPr wrap="square" lIns="0" tIns="0" rIns="0" bIns="0" rtlCol="0" anchor="ctr"/>
          <a:lstStyle/>
          <a:p>
            <a:pPr indent="0" marL="0">
              <a:buNone/>
            </a:pPr>
            <a:r>
              <a:rPr lang="en-US" sz="950" dirty="0">
                <a:solidFill>
                  <a:srgbClr val="2D3748"/>
                </a:solidFill>
              </a:rPr>
              <a:t>Past vehicle crime count (2015–2021) was the single strongest predictor of future hotspots (2022–2024), contributing 40% of the Random Forest model's decision-making. Where crime happened before is where it will likely happen again.</a:t>
            </a:r>
            <a:endParaRPr lang="en-US" sz="950" dirty="0"/>
          </a:p>
        </p:txBody>
      </p:sp>
      <p:sp>
        <p:nvSpPr>
          <p:cNvPr id="9" name="Shape 7"/>
          <p:cNvSpPr/>
          <p:nvPr/>
        </p:nvSpPr>
        <p:spPr>
          <a:xfrm>
            <a:off x="4754880" y="1005840"/>
            <a:ext cx="3977640" cy="1737360"/>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4754880" y="1005840"/>
            <a:ext cx="384048" cy="1737360"/>
          </a:xfrm>
          <a:prstGeom prst="rect">
            <a:avLst/>
          </a:prstGeom>
          <a:solidFill>
            <a:srgbClr val="065A82"/>
          </a:solidFill>
          <a:ln w="12700">
            <a:solidFill>
              <a:srgbClr val="065A82"/>
            </a:solidFill>
            <a:prstDash val="solid"/>
          </a:ln>
        </p:spPr>
      </p:sp>
      <p:sp>
        <p:nvSpPr>
          <p:cNvPr id="11" name="Text 9"/>
          <p:cNvSpPr/>
          <p:nvPr/>
        </p:nvSpPr>
        <p:spPr>
          <a:xfrm>
            <a:off x="4828032" y="1078992"/>
            <a:ext cx="256032" cy="320040"/>
          </a:xfrm>
          <a:prstGeom prst="rect">
            <a:avLst/>
          </a:prstGeom>
          <a:no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12" name="Text 10"/>
          <p:cNvSpPr/>
          <p:nvPr/>
        </p:nvSpPr>
        <p:spPr>
          <a:xfrm>
            <a:off x="5257800" y="1078992"/>
            <a:ext cx="3383280" cy="347472"/>
          </a:xfrm>
          <a:prstGeom prst="rect">
            <a:avLst/>
          </a:prstGeom>
          <a:noFill/>
          <a:ln/>
        </p:spPr>
        <p:txBody>
          <a:bodyPr wrap="square" lIns="0" tIns="0" rIns="0" bIns="0" rtlCol="0" anchor="ctr"/>
          <a:lstStyle/>
          <a:p>
            <a:pPr indent="0" marL="0">
              <a:buNone/>
            </a:pPr>
            <a:r>
              <a:rPr lang="en-US" sz="1100" b="1" dirty="0">
                <a:solidFill>
                  <a:srgbClr val="0D1F2D"/>
                </a:solidFill>
              </a:rPr>
              <a:t>Road Infrastructure Drives Risk</a:t>
            </a:r>
            <a:endParaRPr lang="en-US" sz="1100" dirty="0"/>
          </a:p>
        </p:txBody>
      </p:sp>
      <p:sp>
        <p:nvSpPr>
          <p:cNvPr id="13" name="Text 11"/>
          <p:cNvSpPr/>
          <p:nvPr/>
        </p:nvSpPr>
        <p:spPr>
          <a:xfrm>
            <a:off x="5257800" y="1463040"/>
            <a:ext cx="3383280" cy="1188720"/>
          </a:xfrm>
          <a:prstGeom prst="rect">
            <a:avLst/>
          </a:prstGeom>
          <a:noFill/>
          <a:ln/>
        </p:spPr>
        <p:txBody>
          <a:bodyPr wrap="square" lIns="0" tIns="0" rIns="0" bIns="0" rtlCol="0" anchor="ctr"/>
          <a:lstStyle/>
          <a:p>
            <a:pPr indent="0" marL="0">
              <a:buNone/>
            </a:pPr>
            <a:r>
              <a:rPr lang="en-US" sz="950" dirty="0">
                <a:solidFill>
                  <a:srgbClr val="2D3748"/>
                </a:solidFill>
              </a:rPr>
              <a:t>Road density (14.6%) and intersection count (13.8%) ranked 2nd and 3rd in feature importance. Areas with dense road networks and many intersections give criminals more access and escape routes — a structural risk factor independent of socioeconomic conditions.</a:t>
            </a:r>
            <a:endParaRPr lang="en-US" sz="950" dirty="0"/>
          </a:p>
        </p:txBody>
      </p:sp>
      <p:sp>
        <p:nvSpPr>
          <p:cNvPr id="14" name="Shape 12"/>
          <p:cNvSpPr/>
          <p:nvPr/>
        </p:nvSpPr>
        <p:spPr>
          <a:xfrm>
            <a:off x="457200" y="2926080"/>
            <a:ext cx="3977640" cy="1737360"/>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457200" y="2926080"/>
            <a:ext cx="384048" cy="1737360"/>
          </a:xfrm>
          <a:prstGeom prst="rect">
            <a:avLst/>
          </a:prstGeom>
          <a:solidFill>
            <a:srgbClr val="1C7293"/>
          </a:solidFill>
          <a:ln w="12700">
            <a:solidFill>
              <a:srgbClr val="1C7293"/>
            </a:solidFill>
            <a:prstDash val="solid"/>
          </a:ln>
        </p:spPr>
      </p:sp>
      <p:sp>
        <p:nvSpPr>
          <p:cNvPr id="16" name="Text 14"/>
          <p:cNvSpPr/>
          <p:nvPr/>
        </p:nvSpPr>
        <p:spPr>
          <a:xfrm>
            <a:off x="530352" y="2999232"/>
            <a:ext cx="256032" cy="320040"/>
          </a:xfrm>
          <a:prstGeom prst="rect">
            <a:avLst/>
          </a:prstGeom>
          <a:no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17" name="Text 15"/>
          <p:cNvSpPr/>
          <p:nvPr/>
        </p:nvSpPr>
        <p:spPr>
          <a:xfrm>
            <a:off x="960120" y="2999232"/>
            <a:ext cx="3383280" cy="347472"/>
          </a:xfrm>
          <a:prstGeom prst="rect">
            <a:avLst/>
          </a:prstGeom>
          <a:noFill/>
          <a:ln/>
        </p:spPr>
        <p:txBody>
          <a:bodyPr wrap="square" lIns="0" tIns="0" rIns="0" bIns="0" rtlCol="0" anchor="ctr"/>
          <a:lstStyle/>
          <a:p>
            <a:pPr indent="0" marL="0">
              <a:buNone/>
            </a:pPr>
            <a:r>
              <a:rPr lang="en-US" sz="1100" b="1" dirty="0">
                <a:solidFill>
                  <a:srgbClr val="0D1F2D"/>
                </a:solidFill>
              </a:rPr>
              <a:t>Transit Hubs and Downtown Proximity Matter</a:t>
            </a:r>
            <a:endParaRPr lang="en-US" sz="1100" dirty="0"/>
          </a:p>
        </p:txBody>
      </p:sp>
      <p:sp>
        <p:nvSpPr>
          <p:cNvPr id="18" name="Text 16"/>
          <p:cNvSpPr/>
          <p:nvPr/>
        </p:nvSpPr>
        <p:spPr>
          <a:xfrm>
            <a:off x="960120" y="3383280"/>
            <a:ext cx="3383280" cy="1188720"/>
          </a:xfrm>
          <a:prstGeom prst="rect">
            <a:avLst/>
          </a:prstGeom>
          <a:noFill/>
          <a:ln/>
        </p:spPr>
        <p:txBody>
          <a:bodyPr wrap="square" lIns="0" tIns="0" rIns="0" bIns="0" rtlCol="0" anchor="ctr"/>
          <a:lstStyle/>
          <a:p>
            <a:pPr indent="0" marL="0">
              <a:buNone/>
            </a:pPr>
            <a:r>
              <a:rPr lang="en-US" sz="950" dirty="0">
                <a:solidFill>
                  <a:srgbClr val="2D3748"/>
                </a:solidFill>
              </a:rPr>
              <a:t>Transit stop count and distance to downtown were the 4th and 5th strongest predictors. High foot traffic areas with many stopped vehicles near the city center show consistently elevated risk across all models.</a:t>
            </a:r>
            <a:endParaRPr lang="en-US" sz="950" dirty="0"/>
          </a:p>
        </p:txBody>
      </p:sp>
      <p:sp>
        <p:nvSpPr>
          <p:cNvPr id="19" name="Shape 17"/>
          <p:cNvSpPr/>
          <p:nvPr/>
        </p:nvSpPr>
        <p:spPr>
          <a:xfrm>
            <a:off x="4754880" y="2926080"/>
            <a:ext cx="3977640" cy="1737360"/>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754880" y="2926080"/>
            <a:ext cx="384048" cy="1737360"/>
          </a:xfrm>
          <a:prstGeom prst="rect">
            <a:avLst/>
          </a:prstGeom>
          <a:solidFill>
            <a:srgbClr val="E67E22"/>
          </a:solidFill>
          <a:ln w="12700">
            <a:solidFill>
              <a:srgbClr val="E67E22"/>
            </a:solidFill>
            <a:prstDash val="solid"/>
          </a:ln>
        </p:spPr>
      </p:sp>
      <p:sp>
        <p:nvSpPr>
          <p:cNvPr id="21" name="Text 19"/>
          <p:cNvSpPr/>
          <p:nvPr/>
        </p:nvSpPr>
        <p:spPr>
          <a:xfrm>
            <a:off x="4828032" y="2999232"/>
            <a:ext cx="256032" cy="320040"/>
          </a:xfrm>
          <a:prstGeom prst="rect">
            <a:avLst/>
          </a:prstGeom>
          <a:no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22" name="Text 20"/>
          <p:cNvSpPr/>
          <p:nvPr/>
        </p:nvSpPr>
        <p:spPr>
          <a:xfrm>
            <a:off x="5257800" y="2999232"/>
            <a:ext cx="3383280" cy="347472"/>
          </a:xfrm>
          <a:prstGeom prst="rect">
            <a:avLst/>
          </a:prstGeom>
          <a:noFill/>
          <a:ln/>
        </p:spPr>
        <p:txBody>
          <a:bodyPr wrap="square" lIns="0" tIns="0" rIns="0" bIns="0" rtlCol="0" anchor="ctr"/>
          <a:lstStyle/>
          <a:p>
            <a:pPr indent="0" marL="0">
              <a:buNone/>
            </a:pPr>
            <a:r>
              <a:rPr lang="en-US" sz="1100" b="1" dirty="0">
                <a:solidFill>
                  <a:srgbClr val="0D1F2D"/>
                </a:solidFill>
              </a:rPr>
              <a:t>Random Forest Outperforms on Discrimination</a:t>
            </a:r>
            <a:endParaRPr lang="en-US" sz="1100" dirty="0"/>
          </a:p>
        </p:txBody>
      </p:sp>
      <p:sp>
        <p:nvSpPr>
          <p:cNvPr id="23" name="Text 21"/>
          <p:cNvSpPr/>
          <p:nvPr/>
        </p:nvSpPr>
        <p:spPr>
          <a:xfrm>
            <a:off x="5257800" y="3383280"/>
            <a:ext cx="3383280" cy="1188720"/>
          </a:xfrm>
          <a:prstGeom prst="rect">
            <a:avLst/>
          </a:prstGeom>
          <a:noFill/>
          <a:ln/>
        </p:spPr>
        <p:txBody>
          <a:bodyPr wrap="square" lIns="0" tIns="0" rIns="0" bIns="0" rtlCol="0" anchor="ctr"/>
          <a:lstStyle/>
          <a:p>
            <a:pPr indent="0" marL="0">
              <a:buNone/>
            </a:pPr>
            <a:r>
              <a:rPr lang="en-US" sz="950" dirty="0">
                <a:solidFill>
                  <a:srgbClr val="2D3748"/>
                </a:solidFill>
              </a:rPr>
              <a:t>Random Forest achieved the highest ROC-AUC (0.952) and Precision (0.718). Logistic Regression showed competitive F1 (0.792), suggesting past crime has a strong linear signal, but RF captures the complex interactions between road density, transit, and location.</a:t>
            </a:r>
            <a:endParaRPr lang="en-US" sz="950" dirty="0"/>
          </a:p>
        </p:txBody>
      </p:sp>
      <p:sp>
        <p:nvSpPr>
          <p:cNvPr id="24" name="Text 22"/>
          <p:cNvSpPr/>
          <p:nvPr/>
        </p:nvSpPr>
        <p:spPr>
          <a:xfrm>
            <a:off x="457200" y="4892040"/>
            <a:ext cx="8229600" cy="201168"/>
          </a:xfrm>
          <a:prstGeom prst="rect">
            <a:avLst/>
          </a:prstGeom>
          <a:noFill/>
          <a:ln/>
        </p:spPr>
        <p:txBody>
          <a:bodyPr wrap="square" lIns="0" tIns="0" rIns="0" bIns="0" rtlCol="0" anchor="ctr"/>
          <a:lstStyle/>
          <a:p>
            <a:pPr indent="0" marL="0">
              <a:buNone/>
            </a:pPr>
            <a:r>
              <a:rPr lang="en-US" sz="800" dirty="0">
                <a:solidFill>
                  <a:srgbClr val="64748B"/>
                </a:solidFill>
              </a:rPr>
              <a:t>Analysis based on 53,264 crime records · 1,022 grid cells · 12 spatial features · Open Baltimore &amp; OSM data</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D1F2D"/>
                </a:solidFill>
              </a:rPr>
              <a:t>Limitations &amp; Responsible Use</a:t>
            </a:r>
            <a:endParaRPr lang="en-US" sz="2800" dirty="0"/>
          </a:p>
        </p:txBody>
      </p:sp>
      <p:sp>
        <p:nvSpPr>
          <p:cNvPr id="3" name="Shape 1"/>
          <p:cNvSpPr/>
          <p:nvPr/>
        </p:nvSpPr>
        <p:spPr>
          <a:xfrm>
            <a:off x="457200" y="841248"/>
            <a:ext cx="8229600" cy="36576"/>
          </a:xfrm>
          <a:prstGeom prst="rect">
            <a:avLst/>
          </a:prstGeom>
          <a:solidFill>
            <a:srgbClr val="C0392B"/>
          </a:solidFill>
          <a:ln w="12700">
            <a:solidFill>
              <a:srgbClr val="C0392B"/>
            </a:solidFill>
            <a:prstDash val="solid"/>
          </a:ln>
        </p:spPr>
      </p:sp>
      <p:sp>
        <p:nvSpPr>
          <p:cNvPr id="4" name="Shape 2"/>
          <p:cNvSpPr/>
          <p:nvPr/>
        </p:nvSpPr>
        <p:spPr>
          <a:xfrm>
            <a:off x="457200" y="1005840"/>
            <a:ext cx="2651760" cy="1627632"/>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566928" y="1097280"/>
            <a:ext cx="2423160" cy="320040"/>
          </a:xfrm>
          <a:prstGeom prst="rect">
            <a:avLst/>
          </a:prstGeom>
          <a:noFill/>
          <a:ln/>
        </p:spPr>
        <p:txBody>
          <a:bodyPr wrap="square" lIns="0" tIns="0" rIns="0" bIns="0" rtlCol="0" anchor="ctr"/>
          <a:lstStyle/>
          <a:p>
            <a:pPr indent="0" marL="0">
              <a:buNone/>
            </a:pPr>
            <a:r>
              <a:rPr lang="en-US" sz="1000" b="1" dirty="0">
                <a:solidFill>
                  <a:srgbClr val="0D1F2D"/>
                </a:solidFill>
              </a:rPr>
              <a:t>⚠️  Area-Level Risk Only</a:t>
            </a:r>
            <a:endParaRPr lang="en-US" sz="1000" dirty="0"/>
          </a:p>
        </p:txBody>
      </p:sp>
      <p:sp>
        <p:nvSpPr>
          <p:cNvPr id="6" name="Text 4"/>
          <p:cNvSpPr/>
          <p:nvPr/>
        </p:nvSpPr>
        <p:spPr>
          <a:xfrm>
            <a:off x="566928" y="1444752"/>
            <a:ext cx="2423160" cy="1115568"/>
          </a:xfrm>
          <a:prstGeom prst="rect">
            <a:avLst/>
          </a:prstGeom>
          <a:noFill/>
          <a:ln/>
        </p:spPr>
        <p:txBody>
          <a:bodyPr wrap="square" lIns="0" tIns="0" rIns="0" bIns="0" rtlCol="0" anchor="ctr"/>
          <a:lstStyle/>
          <a:p>
            <a:pPr indent="0" marL="0">
              <a:buNone/>
            </a:pPr>
            <a:r>
              <a:rPr lang="en-US" sz="900" dirty="0">
                <a:solidFill>
                  <a:srgbClr val="2D3748"/>
                </a:solidFill>
              </a:rPr>
              <a:t>This model predicts spatial risk for 500m grid cells — not where any individual will commit a crime. It should never be used to target individuals or communities.</a:t>
            </a:r>
            <a:endParaRPr lang="en-US" sz="900" dirty="0"/>
          </a:p>
        </p:txBody>
      </p:sp>
      <p:sp>
        <p:nvSpPr>
          <p:cNvPr id="7" name="Shape 5"/>
          <p:cNvSpPr/>
          <p:nvPr/>
        </p:nvSpPr>
        <p:spPr>
          <a:xfrm>
            <a:off x="3291840" y="1005840"/>
            <a:ext cx="2651760" cy="1627632"/>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3401568" y="1097280"/>
            <a:ext cx="2423160" cy="320040"/>
          </a:xfrm>
          <a:prstGeom prst="rect">
            <a:avLst/>
          </a:prstGeom>
          <a:noFill/>
          <a:ln/>
        </p:spPr>
        <p:txBody>
          <a:bodyPr wrap="square" lIns="0" tIns="0" rIns="0" bIns="0" rtlCol="0" anchor="ctr"/>
          <a:lstStyle/>
          <a:p>
            <a:pPr indent="0" marL="0">
              <a:buNone/>
            </a:pPr>
            <a:r>
              <a:rPr lang="en-US" sz="1000" b="1" dirty="0">
                <a:solidFill>
                  <a:srgbClr val="0D1F2D"/>
                </a:solidFill>
              </a:rPr>
              <a:t>📊  Reported Crime Bias</a:t>
            </a:r>
            <a:endParaRPr lang="en-US" sz="1000" dirty="0"/>
          </a:p>
        </p:txBody>
      </p:sp>
      <p:sp>
        <p:nvSpPr>
          <p:cNvPr id="9" name="Text 7"/>
          <p:cNvSpPr/>
          <p:nvPr/>
        </p:nvSpPr>
        <p:spPr>
          <a:xfrm>
            <a:off x="3401568" y="1444752"/>
            <a:ext cx="2423160" cy="1115568"/>
          </a:xfrm>
          <a:prstGeom prst="rect">
            <a:avLst/>
          </a:prstGeom>
          <a:noFill/>
          <a:ln/>
        </p:spPr>
        <p:txBody>
          <a:bodyPr wrap="square" lIns="0" tIns="0" rIns="0" bIns="0" rtlCol="0" anchor="ctr"/>
          <a:lstStyle/>
          <a:p>
            <a:pPr indent="0" marL="0">
              <a:buNone/>
            </a:pPr>
            <a:r>
              <a:rPr lang="en-US" sz="900" dirty="0">
                <a:solidFill>
                  <a:srgbClr val="2D3748"/>
                </a:solidFill>
              </a:rPr>
              <a:t>The dataset reflects reported crimes only. Areas with lower reporting rates may appear safer than they actually are, which can skew model outputs.</a:t>
            </a:r>
            <a:endParaRPr lang="en-US" sz="900" dirty="0"/>
          </a:p>
        </p:txBody>
      </p:sp>
      <p:sp>
        <p:nvSpPr>
          <p:cNvPr id="10" name="Shape 8"/>
          <p:cNvSpPr/>
          <p:nvPr/>
        </p:nvSpPr>
        <p:spPr>
          <a:xfrm>
            <a:off x="6126480" y="1005840"/>
            <a:ext cx="2651760" cy="1627632"/>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6236208" y="1097280"/>
            <a:ext cx="2423160" cy="320040"/>
          </a:xfrm>
          <a:prstGeom prst="rect">
            <a:avLst/>
          </a:prstGeom>
          <a:noFill/>
          <a:ln/>
        </p:spPr>
        <p:txBody>
          <a:bodyPr wrap="square" lIns="0" tIns="0" rIns="0" bIns="0" rtlCol="0" anchor="ctr"/>
          <a:lstStyle/>
          <a:p>
            <a:pPr indent="0" marL="0">
              <a:buNone/>
            </a:pPr>
            <a:r>
              <a:rPr lang="en-US" sz="1000" b="1" dirty="0">
                <a:solidFill>
                  <a:srgbClr val="0D1F2D"/>
                </a:solidFill>
              </a:rPr>
              <a:t>🔗  Association, Not Causation</a:t>
            </a:r>
            <a:endParaRPr lang="en-US" sz="1000" dirty="0"/>
          </a:p>
        </p:txBody>
      </p:sp>
      <p:sp>
        <p:nvSpPr>
          <p:cNvPr id="12" name="Text 10"/>
          <p:cNvSpPr/>
          <p:nvPr/>
        </p:nvSpPr>
        <p:spPr>
          <a:xfrm>
            <a:off x="6236208" y="1444752"/>
            <a:ext cx="2423160" cy="1115568"/>
          </a:xfrm>
          <a:prstGeom prst="rect">
            <a:avLst/>
          </a:prstGeom>
          <a:noFill/>
          <a:ln/>
        </p:spPr>
        <p:txBody>
          <a:bodyPr wrap="square" lIns="0" tIns="0" rIns="0" bIns="0" rtlCol="0" anchor="ctr"/>
          <a:lstStyle/>
          <a:p>
            <a:pPr indent="0" marL="0">
              <a:buNone/>
            </a:pPr>
            <a:r>
              <a:rPr lang="en-US" sz="900" dirty="0">
                <a:solidFill>
                  <a:srgbClr val="2D3748"/>
                </a:solidFill>
              </a:rPr>
              <a:t>Features like road density and transit stops show spatial correlation with crime — they are not proven causes. The model identifies patterns, not explanations.</a:t>
            </a:r>
            <a:endParaRPr lang="en-US" sz="900" dirty="0"/>
          </a:p>
        </p:txBody>
      </p:sp>
      <p:sp>
        <p:nvSpPr>
          <p:cNvPr id="13" name="Shape 11"/>
          <p:cNvSpPr/>
          <p:nvPr/>
        </p:nvSpPr>
        <p:spPr>
          <a:xfrm>
            <a:off x="457200" y="2788920"/>
            <a:ext cx="2651760" cy="1627632"/>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566928" y="2880360"/>
            <a:ext cx="2423160" cy="320040"/>
          </a:xfrm>
          <a:prstGeom prst="rect">
            <a:avLst/>
          </a:prstGeom>
          <a:noFill/>
          <a:ln/>
        </p:spPr>
        <p:txBody>
          <a:bodyPr wrap="square" lIns="0" tIns="0" rIns="0" bIns="0" rtlCol="0" anchor="ctr"/>
          <a:lstStyle/>
          <a:p>
            <a:pPr indent="0" marL="0">
              <a:buNone/>
            </a:pPr>
            <a:r>
              <a:rPr lang="en-US" sz="1000" b="1" dirty="0">
                <a:solidFill>
                  <a:srgbClr val="0D1F2D"/>
                </a:solidFill>
              </a:rPr>
              <a:t>🏚️  Vacant Property Data Limitation</a:t>
            </a:r>
            <a:endParaRPr lang="en-US" sz="1000" dirty="0"/>
          </a:p>
        </p:txBody>
      </p:sp>
      <p:sp>
        <p:nvSpPr>
          <p:cNvPr id="15" name="Text 13"/>
          <p:cNvSpPr/>
          <p:nvPr/>
        </p:nvSpPr>
        <p:spPr>
          <a:xfrm>
            <a:off x="566928" y="3227832"/>
            <a:ext cx="2423160" cy="1115568"/>
          </a:xfrm>
          <a:prstGeom prst="rect">
            <a:avLst/>
          </a:prstGeom>
          <a:noFill/>
          <a:ln/>
        </p:spPr>
        <p:txBody>
          <a:bodyPr wrap="square" lIns="0" tIns="0" rIns="0" bIns="0" rtlCol="0" anchor="ctr"/>
          <a:lstStyle/>
          <a:p>
            <a:pPr indent="0" marL="0">
              <a:buNone/>
            </a:pPr>
            <a:r>
              <a:rPr lang="en-US" sz="900" dirty="0">
                <a:solidFill>
                  <a:srgbClr val="2D3748"/>
                </a:solidFill>
              </a:rPr>
              <a:t>Baltimore DHCD vacant property data reflects current status only — historical records are removed when properties are fixed. This data was excluded to avoid misleading the model.</a:t>
            </a:r>
            <a:endParaRPr lang="en-US" sz="900" dirty="0"/>
          </a:p>
        </p:txBody>
      </p:sp>
      <p:sp>
        <p:nvSpPr>
          <p:cNvPr id="16" name="Shape 14"/>
          <p:cNvSpPr/>
          <p:nvPr/>
        </p:nvSpPr>
        <p:spPr>
          <a:xfrm>
            <a:off x="3291840" y="2788920"/>
            <a:ext cx="2651760" cy="1627632"/>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3401568" y="2880360"/>
            <a:ext cx="2423160" cy="320040"/>
          </a:xfrm>
          <a:prstGeom prst="rect">
            <a:avLst/>
          </a:prstGeom>
          <a:noFill/>
          <a:ln/>
        </p:spPr>
        <p:txBody>
          <a:bodyPr wrap="square" lIns="0" tIns="0" rIns="0" bIns="0" rtlCol="0" anchor="ctr"/>
          <a:lstStyle/>
          <a:p>
            <a:pPr indent="0" marL="0">
              <a:buNone/>
            </a:pPr>
            <a:r>
              <a:rPr lang="en-US" sz="1000" b="1" dirty="0">
                <a:solidFill>
                  <a:srgbClr val="0D1F2D"/>
                </a:solidFill>
              </a:rPr>
              <a:t>📅  Temporal Validity</a:t>
            </a:r>
            <a:endParaRPr lang="en-US" sz="1000" dirty="0"/>
          </a:p>
        </p:txBody>
      </p:sp>
      <p:sp>
        <p:nvSpPr>
          <p:cNvPr id="18" name="Text 16"/>
          <p:cNvSpPr/>
          <p:nvPr/>
        </p:nvSpPr>
        <p:spPr>
          <a:xfrm>
            <a:off x="3401568" y="3227832"/>
            <a:ext cx="2423160" cy="1115568"/>
          </a:xfrm>
          <a:prstGeom prst="rect">
            <a:avLst/>
          </a:prstGeom>
          <a:noFill/>
          <a:ln/>
        </p:spPr>
        <p:txBody>
          <a:bodyPr wrap="square" lIns="0" tIns="0" rIns="0" bIns="0" rtlCol="0" anchor="ctr"/>
          <a:lstStyle/>
          <a:p>
            <a:pPr indent="0" marL="0">
              <a:buNone/>
            </a:pPr>
            <a:r>
              <a:rPr lang="en-US" sz="900" dirty="0">
                <a:solidFill>
                  <a:srgbClr val="2D3748"/>
                </a:solidFill>
              </a:rPr>
              <a:t>The model was trained on 2015–2021 data. New infrastructure, policy changes, or urban development may reduce accuracy over time. Periodic retraining is recommended.</a:t>
            </a:r>
            <a:endParaRPr lang="en-US" sz="900" dirty="0"/>
          </a:p>
        </p:txBody>
      </p:sp>
      <p:sp>
        <p:nvSpPr>
          <p:cNvPr id="19" name="Shape 17"/>
          <p:cNvSpPr/>
          <p:nvPr/>
        </p:nvSpPr>
        <p:spPr>
          <a:xfrm>
            <a:off x="6126480" y="2788920"/>
            <a:ext cx="2651760" cy="1627632"/>
          </a:xfrm>
          <a:prstGeom prst="rect">
            <a:avLst/>
          </a:prstGeom>
          <a:solidFill>
            <a:srgbClr val="F7F9FA"/>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6236208" y="2880360"/>
            <a:ext cx="2423160" cy="320040"/>
          </a:xfrm>
          <a:prstGeom prst="rect">
            <a:avLst/>
          </a:prstGeom>
          <a:noFill/>
          <a:ln/>
        </p:spPr>
        <p:txBody>
          <a:bodyPr wrap="square" lIns="0" tIns="0" rIns="0" bIns="0" rtlCol="0" anchor="ctr"/>
          <a:lstStyle/>
          <a:p>
            <a:pPr indent="0" marL="0">
              <a:buNone/>
            </a:pPr>
            <a:r>
              <a:rPr lang="en-US" sz="1000" b="1" dirty="0">
                <a:solidFill>
                  <a:srgbClr val="0D1F2D"/>
                </a:solidFill>
              </a:rPr>
              <a:t>🎯  Intended Use</a:t>
            </a:r>
            <a:endParaRPr lang="en-US" sz="1000" dirty="0"/>
          </a:p>
        </p:txBody>
      </p:sp>
      <p:sp>
        <p:nvSpPr>
          <p:cNvPr id="21" name="Text 19"/>
          <p:cNvSpPr/>
          <p:nvPr/>
        </p:nvSpPr>
        <p:spPr>
          <a:xfrm>
            <a:off x="6236208" y="3227832"/>
            <a:ext cx="2423160" cy="1115568"/>
          </a:xfrm>
          <a:prstGeom prst="rect">
            <a:avLst/>
          </a:prstGeom>
          <a:noFill/>
          <a:ln/>
        </p:spPr>
        <p:txBody>
          <a:bodyPr wrap="square" lIns="0" tIns="0" rIns="0" bIns="0" rtlCol="0" anchor="ctr"/>
          <a:lstStyle/>
          <a:p>
            <a:pPr indent="0" marL="0">
              <a:buNone/>
            </a:pPr>
            <a:r>
              <a:rPr lang="en-US" sz="900" dirty="0">
                <a:solidFill>
                  <a:srgbClr val="2D3748"/>
                </a:solidFill>
              </a:rPr>
              <a:t>This tool is designed for city planners, traffic safety officials, and infrastructure teams — to help prioritize lighting upgrades, parking improvements, and transit safety. Not for law enforcement targeting.</a:t>
            </a:r>
            <a:endParaRPr lang="en-US" sz="900" dirty="0"/>
          </a:p>
        </p:txBody>
      </p:sp>
      <p:sp>
        <p:nvSpPr>
          <p:cNvPr id="22" name="Text 20"/>
          <p:cNvSpPr/>
          <p:nvPr/>
        </p:nvSpPr>
        <p:spPr>
          <a:xfrm>
            <a:off x="457200" y="4892040"/>
            <a:ext cx="8229600" cy="201168"/>
          </a:xfrm>
          <a:prstGeom prst="rect">
            <a:avLst/>
          </a:prstGeom>
          <a:noFill/>
          <a:ln/>
        </p:spPr>
        <p:txBody>
          <a:bodyPr wrap="square" lIns="0" tIns="0" rIns="0" bIns="0" rtlCol="0" anchor="ctr"/>
          <a:lstStyle/>
          <a:p>
            <a:pPr indent="0" marL="0">
              <a:buNone/>
            </a:pPr>
            <a:r>
              <a:rPr lang="en-US" sz="800" dirty="0">
                <a:solidFill>
                  <a:srgbClr val="64748B"/>
                </a:solidFill>
              </a:rPr>
              <a:t>Ethical framework informed by: responsible AI principles in public safety · National Academy of Sciences crime mapping guidelines</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w="12700">
            <a:solidFill>
              <a:srgbClr val="C0392B"/>
            </a:solidFill>
            <a:prstDash val="solid"/>
          </a:ln>
        </p:spPr>
      </p:sp>
      <p:sp>
        <p:nvSpPr>
          <p:cNvPr id="3" name="Text 1"/>
          <p:cNvSpPr/>
          <p:nvPr/>
        </p:nvSpPr>
        <p:spPr>
          <a:xfrm>
            <a:off x="365760" y="274320"/>
            <a:ext cx="5486400" cy="548640"/>
          </a:xfrm>
          <a:prstGeom prst="rect">
            <a:avLst/>
          </a:prstGeom>
          <a:noFill/>
          <a:ln/>
        </p:spPr>
        <p:txBody>
          <a:bodyPr wrap="square" lIns="0" tIns="0" rIns="0" bIns="0" rtlCol="0" anchor="ctr"/>
          <a:lstStyle/>
          <a:p>
            <a:pPr indent="0" marL="0">
              <a:buNone/>
            </a:pPr>
            <a:r>
              <a:rPr lang="en-US" sz="3200" b="1" dirty="0">
                <a:solidFill>
                  <a:srgbClr val="FFFFFF"/>
                </a:solidFill>
              </a:rPr>
              <a:t>Conclusion</a:t>
            </a:r>
            <a:endParaRPr lang="en-US" sz="3200" dirty="0"/>
          </a:p>
        </p:txBody>
      </p:sp>
      <p:sp>
        <p:nvSpPr>
          <p:cNvPr id="4" name="Shape 2"/>
          <p:cNvSpPr/>
          <p:nvPr/>
        </p:nvSpPr>
        <p:spPr>
          <a:xfrm>
            <a:off x="365760" y="868680"/>
            <a:ext cx="5029200" cy="36576"/>
          </a:xfrm>
          <a:prstGeom prst="rect">
            <a:avLst/>
          </a:prstGeom>
          <a:solidFill>
            <a:srgbClr val="1C7293"/>
          </a:solidFill>
          <a:ln w="12700">
            <a:solidFill>
              <a:srgbClr val="1C7293"/>
            </a:solidFill>
            <a:prstDash val="solid"/>
          </a:ln>
        </p:spPr>
      </p:sp>
      <p:sp>
        <p:nvSpPr>
          <p:cNvPr id="5" name="Shape 3"/>
          <p:cNvSpPr/>
          <p:nvPr/>
        </p:nvSpPr>
        <p:spPr>
          <a:xfrm>
            <a:off x="365760" y="987552"/>
            <a:ext cx="292608" cy="292608"/>
          </a:xfrm>
          <a:prstGeom prst="rect">
            <a:avLst/>
          </a:prstGeom>
          <a:solidFill>
            <a:srgbClr val="C0392B"/>
          </a:solidFill>
          <a:ln w="12700">
            <a:solidFill>
              <a:srgbClr val="C0392B"/>
            </a:solidFill>
            <a:prstDash val="solid"/>
          </a:ln>
        </p:spPr>
      </p:sp>
      <p:sp>
        <p:nvSpPr>
          <p:cNvPr id="6" name="Text 4"/>
          <p:cNvSpPr/>
          <p:nvPr/>
        </p:nvSpPr>
        <p:spPr>
          <a:xfrm>
            <a:off x="365760" y="9875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p:nvPr/>
        </p:nvSpPr>
        <p:spPr>
          <a:xfrm>
            <a:off x="749808" y="987552"/>
            <a:ext cx="5212080" cy="594360"/>
          </a:xfrm>
          <a:prstGeom prst="rect">
            <a:avLst/>
          </a:prstGeom>
          <a:noFill/>
          <a:ln/>
        </p:spPr>
        <p:txBody>
          <a:bodyPr wrap="square" lIns="0" tIns="0" rIns="0" bIns="0" rtlCol="0" anchor="ctr"/>
          <a:lstStyle/>
          <a:p>
            <a:pPr indent="0" marL="0">
              <a:buNone/>
            </a:pPr>
            <a:r>
              <a:rPr lang="en-US" sz="1000" dirty="0">
                <a:solidFill>
                  <a:srgbClr val="FFFFFF"/>
                </a:solidFill>
              </a:rPr>
              <a:t>A Random Forest model trained on 12 spatial features accurately identifies vehicle crime hotspot areas in Baltimore City with 87.5% accuracy and 0.952 ROC-AUC.</a:t>
            </a:r>
            <a:endParaRPr lang="en-US" sz="1000" dirty="0"/>
          </a:p>
        </p:txBody>
      </p:sp>
      <p:sp>
        <p:nvSpPr>
          <p:cNvPr id="8" name="Shape 6"/>
          <p:cNvSpPr/>
          <p:nvPr/>
        </p:nvSpPr>
        <p:spPr>
          <a:xfrm>
            <a:off x="365760" y="1691640"/>
            <a:ext cx="292608" cy="292608"/>
          </a:xfrm>
          <a:prstGeom prst="rect">
            <a:avLst/>
          </a:prstGeom>
          <a:solidFill>
            <a:srgbClr val="C0392B"/>
          </a:solidFill>
          <a:ln w="12700">
            <a:solidFill>
              <a:srgbClr val="C0392B"/>
            </a:solidFill>
            <a:prstDash val="solid"/>
          </a:ln>
        </p:spPr>
      </p:sp>
      <p:sp>
        <p:nvSpPr>
          <p:cNvPr id="9" name="Text 7"/>
          <p:cNvSpPr/>
          <p:nvPr/>
        </p:nvSpPr>
        <p:spPr>
          <a:xfrm>
            <a:off x="365760" y="16916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0" name="Text 8"/>
          <p:cNvSpPr/>
          <p:nvPr/>
        </p:nvSpPr>
        <p:spPr>
          <a:xfrm>
            <a:off x="749808" y="1691640"/>
            <a:ext cx="5212080" cy="594360"/>
          </a:xfrm>
          <a:prstGeom prst="rect">
            <a:avLst/>
          </a:prstGeom>
          <a:noFill/>
          <a:ln/>
        </p:spPr>
        <p:txBody>
          <a:bodyPr wrap="square" lIns="0" tIns="0" rIns="0" bIns="0" rtlCol="0" anchor="ctr"/>
          <a:lstStyle/>
          <a:p>
            <a:pPr indent="0" marL="0">
              <a:buNone/>
            </a:pPr>
            <a:r>
              <a:rPr lang="en-US" sz="1000" dirty="0">
                <a:solidFill>
                  <a:srgbClr val="FFFFFF"/>
                </a:solidFill>
              </a:rPr>
              <a:t>Past crime count is the strongest predictor (40%), confirming that crime hotspots are spatially persistent — infrastructure and resource decisions should reflect this.</a:t>
            </a:r>
            <a:endParaRPr lang="en-US" sz="1000" dirty="0"/>
          </a:p>
        </p:txBody>
      </p:sp>
      <p:sp>
        <p:nvSpPr>
          <p:cNvPr id="11" name="Shape 9"/>
          <p:cNvSpPr/>
          <p:nvPr/>
        </p:nvSpPr>
        <p:spPr>
          <a:xfrm>
            <a:off x="365760" y="2395728"/>
            <a:ext cx="292608" cy="292608"/>
          </a:xfrm>
          <a:prstGeom prst="rect">
            <a:avLst/>
          </a:prstGeom>
          <a:solidFill>
            <a:srgbClr val="C0392B"/>
          </a:solidFill>
          <a:ln w="12700">
            <a:solidFill>
              <a:srgbClr val="C0392B"/>
            </a:solidFill>
            <a:prstDash val="solid"/>
          </a:ln>
        </p:spPr>
      </p:sp>
      <p:sp>
        <p:nvSpPr>
          <p:cNvPr id="12" name="Text 10"/>
          <p:cNvSpPr/>
          <p:nvPr/>
        </p:nvSpPr>
        <p:spPr>
          <a:xfrm>
            <a:off x="365760" y="23957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1"/>
          <p:cNvSpPr/>
          <p:nvPr/>
        </p:nvSpPr>
        <p:spPr>
          <a:xfrm>
            <a:off x="749808" y="2395728"/>
            <a:ext cx="5212080" cy="594360"/>
          </a:xfrm>
          <a:prstGeom prst="rect">
            <a:avLst/>
          </a:prstGeom>
          <a:noFill/>
          <a:ln/>
        </p:spPr>
        <p:txBody>
          <a:bodyPr wrap="square" lIns="0" tIns="0" rIns="0" bIns="0" rtlCol="0" anchor="ctr"/>
          <a:lstStyle/>
          <a:p>
            <a:pPr indent="0" marL="0">
              <a:buNone/>
            </a:pPr>
            <a:r>
              <a:rPr lang="en-US" sz="1000" dirty="0">
                <a:solidFill>
                  <a:srgbClr val="FFFFFF"/>
                </a:solidFill>
              </a:rPr>
              <a:t>Road density and intersection count follow as the 2nd and 3rd most important features, highlighting the role of street network structure in crime concentration.</a:t>
            </a:r>
            <a:endParaRPr lang="en-US" sz="1000" dirty="0"/>
          </a:p>
        </p:txBody>
      </p:sp>
      <p:sp>
        <p:nvSpPr>
          <p:cNvPr id="14" name="Shape 12"/>
          <p:cNvSpPr/>
          <p:nvPr/>
        </p:nvSpPr>
        <p:spPr>
          <a:xfrm>
            <a:off x="365760" y="3099816"/>
            <a:ext cx="292608" cy="292608"/>
          </a:xfrm>
          <a:prstGeom prst="rect">
            <a:avLst/>
          </a:prstGeom>
          <a:solidFill>
            <a:srgbClr val="C0392B"/>
          </a:solidFill>
          <a:ln w="12700">
            <a:solidFill>
              <a:srgbClr val="C0392B"/>
            </a:solidFill>
            <a:prstDash val="solid"/>
          </a:ln>
        </p:spPr>
      </p:sp>
      <p:sp>
        <p:nvSpPr>
          <p:cNvPr id="15" name="Text 13"/>
          <p:cNvSpPr/>
          <p:nvPr/>
        </p:nvSpPr>
        <p:spPr>
          <a:xfrm>
            <a:off x="365760" y="30998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6" name="Text 14"/>
          <p:cNvSpPr/>
          <p:nvPr/>
        </p:nvSpPr>
        <p:spPr>
          <a:xfrm>
            <a:off x="749808" y="3099816"/>
            <a:ext cx="5212080" cy="594360"/>
          </a:xfrm>
          <a:prstGeom prst="rect">
            <a:avLst/>
          </a:prstGeom>
          <a:noFill/>
          <a:ln/>
        </p:spPr>
        <p:txBody>
          <a:bodyPr wrap="square" lIns="0" tIns="0" rIns="0" bIns="0" rtlCol="0" anchor="ctr"/>
          <a:lstStyle/>
          <a:p>
            <a:pPr indent="0" marL="0">
              <a:buNone/>
            </a:pPr>
            <a:r>
              <a:rPr lang="en-US" sz="1000" dirty="0">
                <a:solidFill>
                  <a:srgbClr val="FFFFFF"/>
                </a:solidFill>
              </a:rPr>
              <a:t>The model outputs continuous risk probability scores per 500m cell — enabling planners to prioritize investments before incidents rise.</a:t>
            </a:r>
            <a:endParaRPr lang="en-US" sz="1000" dirty="0"/>
          </a:p>
        </p:txBody>
      </p:sp>
      <p:sp>
        <p:nvSpPr>
          <p:cNvPr id="17" name="Shape 15"/>
          <p:cNvSpPr/>
          <p:nvPr/>
        </p:nvSpPr>
        <p:spPr>
          <a:xfrm>
            <a:off x="365760" y="3803904"/>
            <a:ext cx="292608" cy="292608"/>
          </a:xfrm>
          <a:prstGeom prst="rect">
            <a:avLst/>
          </a:prstGeom>
          <a:solidFill>
            <a:srgbClr val="C0392B"/>
          </a:solidFill>
          <a:ln w="12700">
            <a:solidFill>
              <a:srgbClr val="C0392B"/>
            </a:solidFill>
            <a:prstDash val="solid"/>
          </a:ln>
        </p:spPr>
      </p:sp>
      <p:sp>
        <p:nvSpPr>
          <p:cNvPr id="18" name="Text 16"/>
          <p:cNvSpPr/>
          <p:nvPr/>
        </p:nvSpPr>
        <p:spPr>
          <a:xfrm>
            <a:off x="365760" y="380390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19" name="Text 17"/>
          <p:cNvSpPr/>
          <p:nvPr/>
        </p:nvSpPr>
        <p:spPr>
          <a:xfrm>
            <a:off x="749808" y="3803904"/>
            <a:ext cx="5212080" cy="594360"/>
          </a:xfrm>
          <a:prstGeom prst="rect">
            <a:avLst/>
          </a:prstGeom>
          <a:noFill/>
          <a:ln/>
        </p:spPr>
        <p:txBody>
          <a:bodyPr wrap="square" lIns="0" tIns="0" rIns="0" bIns="0" rtlCol="0" anchor="ctr"/>
          <a:lstStyle/>
          <a:p>
            <a:pPr indent="0" marL="0">
              <a:buNone/>
            </a:pPr>
            <a:r>
              <a:rPr lang="en-US" sz="1000" dirty="0">
                <a:solidFill>
                  <a:srgbClr val="FFFFFF"/>
                </a:solidFill>
              </a:rPr>
              <a:t>Three models were compared (Logistic Regression, Decision Tree, Random Forest). Random Forest was selected for highest AUC and Precision, with full GridSearchCV justification.</a:t>
            </a:r>
            <a:endParaRPr lang="en-US" sz="1000" dirty="0"/>
          </a:p>
        </p:txBody>
      </p:sp>
      <p:pic>
        <p:nvPicPr>
          <p:cNvPr id="20" name="Image 0" descr="/mnt/user-data/uploads/23_probability_map.png">    </p:cNvPr>
          <p:cNvPicPr>
            <a:picLocks noChangeAspect="1"/>
          </p:cNvPicPr>
          <p:nvPr/>
        </p:nvPicPr>
        <p:blipFill>
          <a:blip r:embed="rId1"/>
          <a:stretch>
            <a:fillRect/>
          </a:stretch>
        </p:blipFill>
        <p:spPr>
          <a:xfrm>
            <a:off x="6126480" y="365760"/>
            <a:ext cx="2743200" cy="4389120"/>
          </a:xfrm>
          <a:prstGeom prst="rect">
            <a:avLst/>
          </a:prstGeom>
        </p:spPr>
      </p:pic>
      <p:sp>
        <p:nvSpPr>
          <p:cNvPr id="21" name="Text 18"/>
          <p:cNvSpPr/>
          <p:nvPr/>
        </p:nvSpPr>
        <p:spPr>
          <a:xfrm>
            <a:off x="365760" y="4919472"/>
            <a:ext cx="8412480" cy="201168"/>
          </a:xfrm>
          <a:prstGeom prst="rect">
            <a:avLst/>
          </a:prstGeom>
          <a:noFill/>
          <a:ln/>
        </p:spPr>
        <p:txBody>
          <a:bodyPr wrap="square" lIns="0" tIns="0" rIns="0" bIns="0" rtlCol="0" anchor="ctr"/>
          <a:lstStyle/>
          <a:p>
            <a:pPr indent="0" marL="0">
              <a:buNone/>
            </a:pPr>
            <a:r>
              <a:rPr lang="en-US" sz="800" dirty="0">
                <a:solidFill>
                  <a:srgbClr val="64748B"/>
                </a:solidFill>
              </a:rPr>
              <a:t>Data: Open Baltimore · OpenStreetMap · US Census ACS 2020  ·  Tools: Python, scikit-learn, geopandas, osmnx, SHAP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GIS-Based Prediction of Auto Theft &amp; Carjacking Hotspots</dc:title>
  <dc:subject>PptxGenJS Presentation</dc:subject>
  <dc:creator>GIS Student</dc:creator>
  <cp:lastModifiedBy>GIS Student</cp:lastModifiedBy>
  <cp:revision>1</cp:revision>
  <dcterms:created xsi:type="dcterms:W3CDTF">2026-05-18T13:13:33Z</dcterms:created>
  <dcterms:modified xsi:type="dcterms:W3CDTF">2026-05-18T13:13:33Z</dcterms:modified>
</cp:coreProperties>
</file>